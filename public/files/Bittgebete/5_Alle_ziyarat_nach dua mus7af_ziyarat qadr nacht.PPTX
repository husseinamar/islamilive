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443" r:id="rId2"/>
    <p:sldId id="3418" r:id="rId3"/>
    <p:sldId id="3419" r:id="rId4"/>
    <p:sldId id="3445" r:id="rId5"/>
    <p:sldId id="3446" r:id="rId6"/>
    <p:sldId id="3447" r:id="rId7"/>
    <p:sldId id="3448" r:id="rId8"/>
    <p:sldId id="3449" r:id="rId9"/>
    <p:sldId id="3450" r:id="rId10"/>
    <p:sldId id="3451" r:id="rId11"/>
    <p:sldId id="3452" r:id="rId12"/>
    <p:sldId id="3453" r:id="rId13"/>
    <p:sldId id="3454" r:id="rId14"/>
    <p:sldId id="3455" r:id="rId15"/>
    <p:sldId id="3456" r:id="rId16"/>
    <p:sldId id="3457" r:id="rId17"/>
    <p:sldId id="3458" r:id="rId18"/>
    <p:sldId id="3459" r:id="rId19"/>
    <p:sldId id="3460" r:id="rId20"/>
    <p:sldId id="3461" r:id="rId21"/>
    <p:sldId id="3462" r:id="rId22"/>
    <p:sldId id="3463" r:id="rId23"/>
    <p:sldId id="3464" r:id="rId24"/>
    <p:sldId id="3465" r:id="rId25"/>
    <p:sldId id="3466" r:id="rId26"/>
    <p:sldId id="3468" r:id="rId27"/>
    <p:sldId id="3469" r:id="rId28"/>
    <p:sldId id="3470" r:id="rId29"/>
    <p:sldId id="3471" r:id="rId30"/>
    <p:sldId id="3475" r:id="rId31"/>
    <p:sldId id="3476" r:id="rId32"/>
    <p:sldId id="3477" r:id="rId33"/>
    <p:sldId id="3478" r:id="rId34"/>
    <p:sldId id="3479" r:id="rId35"/>
    <p:sldId id="3480" r:id="rId36"/>
    <p:sldId id="3486" r:id="rId37"/>
    <p:sldId id="3481" r:id="rId38"/>
    <p:sldId id="3487" r:id="rId39"/>
    <p:sldId id="3488" r:id="rId40"/>
    <p:sldId id="3489" r:id="rId41"/>
    <p:sldId id="3490" r:id="rId42"/>
    <p:sldId id="3491" r:id="rId43"/>
    <p:sldId id="3492" r:id="rId44"/>
    <p:sldId id="3493" r:id="rId45"/>
    <p:sldId id="3499" r:id="rId46"/>
    <p:sldId id="3494" r:id="rId47"/>
    <p:sldId id="3500" r:id="rId48"/>
    <p:sldId id="3501" r:id="rId49"/>
    <p:sldId id="3502" r:id="rId50"/>
    <p:sldId id="3503" r:id="rId51"/>
    <p:sldId id="3504" r:id="rId52"/>
    <p:sldId id="3505" r:id="rId53"/>
    <p:sldId id="3444" r:id="rId5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0066"/>
    <a:srgbClr val="800000"/>
    <a:srgbClr val="0000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04" autoAdjust="0"/>
  </p:normalViewPr>
  <p:slideViewPr>
    <p:cSldViewPr showGuides="1">
      <p:cViewPr varScale="1">
        <p:scale>
          <a:sx n="79" d="100"/>
          <a:sy n="79" d="100"/>
        </p:scale>
        <p:origin x="108" y="750"/>
      </p:cViewPr>
      <p:guideLst>
        <p:guide orient="horz" pos="2160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A2B3BB-8450-4779-B0B1-17E3F97EAF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A3DD0-BB48-4957-8293-07BCDC3FF90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40FAEB0-35B5-4A17-9F26-DEC48A9334F7}" type="datetimeFigureOut">
              <a:rPr lang="en-US"/>
              <a:t>4/17/2022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A4482BD-CD61-4557-A38A-4D5343F1A4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7328D04-2F24-45C5-8916-C31E538F9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Klicken Sie auf , um Mastertextstile zu bearbeiten</a:t>
            </a:r>
          </a:p>
          <a:p>
            <a:pPr lvl="1"/>
            <a:r>
              <a:rPr lang="en-US" noProof="0"/>
              <a:t>Zweite Ebene</a:t>
            </a:r>
          </a:p>
          <a:p>
            <a:pPr lvl="2"/>
            <a:r>
              <a:rPr lang="en-US" noProof="0"/>
              <a:t>Dritte Ebene</a:t>
            </a:r>
          </a:p>
          <a:p>
            <a:pPr lvl="3"/>
            <a:r>
              <a:rPr lang="en-US" noProof="0"/>
              <a:t>Vierte Ebene</a:t>
            </a:r>
          </a:p>
          <a:p>
            <a:pPr lvl="4"/>
            <a:r>
              <a:rPr lang="en-US" noProof="0"/>
              <a:t>Fünfte Ebene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CD474-EDF6-4A8C-9684-B372EE006E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4B7F1-5845-42BA-9B76-51F8E7A5B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3161972-8781-4FB8-8DE0-A391C8442774}" type="slidenum">
              <a:rPr lang="en-US" altLang="en-US"/>
              <a:t>‹Nr.›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83571A-A745-4EFF-90EC-4E9F194F8B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E1A4E9-A1E4-4C62-8AAE-448F3D7671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0BC1EE-F2C1-4C97-AD75-165BFBD5AE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DD60ED-B8EA-487E-B37C-962912A13BB2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861992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AE4162-97DD-41D2-A661-2BA9361AFD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DA5067-934B-4F7F-8BD7-4A024E26EF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3CD4B6-BC0A-444C-AD89-020198EBE3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E007F-EA15-40FD-9E0E-41C6A8278482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522669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04A3C2-96F6-4BC5-9C6F-DA2E36ED03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E22CD1-7BC2-4A2E-8C63-A470E7C08B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8F4DDA-9B9F-4D15-A1B0-049D0396B9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FE8AE-D614-4941-9FF4-3D47F64FCCE2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439699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681B0C-0020-48E0-BD6A-C9DFBD962F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2D3C8A-F829-49A9-930B-352EEBCAB5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BCCD1E-04BA-4F6E-B652-B4D810D766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A59CB-4D7B-4557-8949-5C029F20D4C0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42372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0CEDD6E-8201-4534-8AC8-5CAFBF04EB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7BDB9B6-995B-45C8-9C86-20F43033AC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F12D8AF-D848-43A7-98DD-35A8E63708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A61A6-BA46-4170-9DFF-4FB3B80DB718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192400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CECFDC0-BC6B-406E-96C1-42F58D8F93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A6C4A99-0999-4AFE-B288-6816621D6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7CE3D6-4786-4A8A-85DC-DC60976A54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3C89B-8807-442D-B11A-5F6A1F7F4637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16517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A2D1613-1684-4A69-9FB3-90E619BA7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A492F3D-CABA-45BE-96F8-42E7BFD592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3FF0781-1A1C-4A3C-B570-54F8857851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395E20-B3D6-4D68-8EE5-111CD402F5CF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42202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6E6C9-C760-4D84-A2D7-3190FF662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156A6-70CC-4B5D-84AD-5CE49AA940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24D56F-7C52-4DFB-963B-6DB4C7E199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7651F-4E47-4F61-A9CF-62CBC12A9CD2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6966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D688F1-9184-42A3-840F-B551837903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9B8962-4D7F-4D39-B1B3-A4ACA835DF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38E8B2-6488-4C27-A774-582F09D056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D3D6F-8B04-4E86-A231-6FCE7BFE4253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415851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5CFCE3-D525-46B5-9138-E11C904769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3D21E5-1757-40A0-86EC-5B23D7E9DF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C84FC1-F44D-4460-831F-05DF6E5314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4AA62E-69CB-4F5C-A5E7-DFF200DB9B54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31712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BF431A-1257-4615-AD54-1AAB0AF726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1241BE-DA1A-4328-88C4-C8BE97B4F1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D1807F-A2B2-4976-A9A0-3092F842D0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139A8-B641-40CC-AD27-CCC99F8545D5}" type="slidenum">
              <a:rPr lang="ar-SA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824638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569754-CA01-4009-85E5-267016AB4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Klicken Sie hier, um den Master-Titelstil zu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BBA5BD5-4E75-4E53-B6B5-7099CE2183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Klicken Sie auf , um Mastertextstile zu bearbeiten</a:t>
            </a:r>
          </a:p>
          <a:p>
            <a:pPr lvl="1"/>
            <a:r>
              <a:rPr lang="en-US" altLang="en-US"/>
              <a:t>Zweite Ebene</a:t>
            </a:r>
          </a:p>
          <a:p>
            <a:pPr lvl="2"/>
            <a:r>
              <a:rPr lang="en-US" altLang="en-US"/>
              <a:t>Dritte Ebene</a:t>
            </a:r>
          </a:p>
          <a:p>
            <a:pPr lvl="3"/>
            <a:r>
              <a:rPr lang="en-US" altLang="en-US"/>
              <a:t>Vierte Ebene</a:t>
            </a:r>
          </a:p>
          <a:p>
            <a:pPr lvl="4"/>
            <a:r>
              <a:rPr lang="en-US" altLang="en-US"/>
              <a:t>Fünfte Ebene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D66BE04-A1CF-4FA8-967B-CA1CA9781D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6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812AAAB-A1F9-4284-80FC-9255A36F08A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66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21DAB09-D9C6-4EFA-A363-6CBC19DA0A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66"/>
                </a:solidFill>
              </a:defRPr>
            </a:lvl1pPr>
          </a:lstStyle>
          <a:p>
            <a:pPr>
              <a:defRPr/>
            </a:pPr>
            <a:fld id="{D7148D30-8589-4AAA-B754-DA83E335415B}" type="slidenum">
              <a:rPr lang="ar-SA" altLang="en-US"/>
              <a:t>‹Nr.›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66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0066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66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9FF24DE6-0070-470E-A234-47FAF4C8D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7013"/>
            <a:ext cx="8534400" cy="369887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GB" altLang="en-US" sz="1800" b="1">
                <a:solidFill>
                  <a:srgbClr val="FFFF99"/>
                </a:solidFill>
                <a:latin typeface="Trebuchet MS" panose="020B0603020202020204" pitchFamily="34" charset="0"/>
              </a:rPr>
              <a:t>Verdienste der Ziyārah von Imam Husayn (A) in der Nacht des Qadr</a:t>
            </a:r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AD4A4D03-295E-4FE7-ABF8-A0BA44936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67661"/>
            <a:ext cx="8534400" cy="4524315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50000">
                <a:srgbClr val="001847"/>
              </a:gs>
              <a:gs pos="100000">
                <a:srgbClr val="003399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 err="1">
                <a:solidFill>
                  <a:srgbClr val="FFFF00"/>
                </a:solidFill>
              </a:rPr>
              <a:t>Einem</a:t>
            </a:r>
            <a:r>
              <a:rPr lang="en-US" altLang="en-US" sz="1600" b="1" dirty="0">
                <a:solidFill>
                  <a:srgbClr val="FFFF00"/>
                </a:solidFill>
              </a:rPr>
              <a:t> Hadith </a:t>
            </a:r>
            <a:r>
              <a:rPr lang="en-US" altLang="en-US" sz="1600" b="1" dirty="0" err="1">
                <a:solidFill>
                  <a:srgbClr val="FFFF00"/>
                </a:solidFill>
              </a:rPr>
              <a:t>zufolge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verkündet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ein</a:t>
            </a:r>
            <a:r>
              <a:rPr lang="en-US" altLang="en-US" sz="1600" b="1" dirty="0">
                <a:solidFill>
                  <a:srgbClr val="FFFF00"/>
                </a:solidFill>
              </a:rPr>
              <a:t> Engel </a:t>
            </a:r>
            <a:r>
              <a:rPr lang="en-US" altLang="en-US" sz="1600" b="1" dirty="0" err="1">
                <a:solidFill>
                  <a:srgbClr val="FFFF00"/>
                </a:solidFill>
              </a:rPr>
              <a:t>während</a:t>
            </a:r>
            <a:r>
              <a:rPr lang="en-US" altLang="en-US" sz="1600" b="1" dirty="0">
                <a:solidFill>
                  <a:srgbClr val="FFFF00"/>
                </a:solidFill>
              </a:rPr>
              <a:t> der Laylatul Qadr </a:t>
            </a:r>
            <a:r>
              <a:rPr lang="en-US" altLang="en-US" sz="1600" b="1" dirty="0" err="1">
                <a:solidFill>
                  <a:srgbClr val="FFFF00"/>
                </a:solidFill>
              </a:rPr>
              <a:t>vom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Arsh</a:t>
            </a:r>
            <a:r>
              <a:rPr lang="en-US" altLang="en-US" sz="1600" b="1" dirty="0">
                <a:solidFill>
                  <a:srgbClr val="FFFF00"/>
                </a:solidFill>
              </a:rPr>
              <a:t> (</a:t>
            </a:r>
            <a:r>
              <a:rPr lang="en-US" altLang="en-US" sz="1600" b="1" dirty="0" err="1">
                <a:solidFill>
                  <a:srgbClr val="FFFF00"/>
                </a:solidFill>
              </a:rPr>
              <a:t>Thron</a:t>
            </a:r>
            <a:r>
              <a:rPr lang="en-US" altLang="en-US" sz="1600" b="1" dirty="0">
                <a:solidFill>
                  <a:srgbClr val="FFFF00"/>
                </a:solidFill>
              </a:rPr>
              <a:t>) am </a:t>
            </a:r>
            <a:r>
              <a:rPr lang="en-US" altLang="en-US" sz="1600" b="1" dirty="0" err="1">
                <a:solidFill>
                  <a:srgbClr val="FFFF00"/>
                </a:solidFill>
              </a:rPr>
              <a:t>siebten</a:t>
            </a:r>
            <a:r>
              <a:rPr lang="en-US" altLang="en-US" sz="1600" b="1" dirty="0">
                <a:solidFill>
                  <a:srgbClr val="FFFF00"/>
                </a:solidFill>
              </a:rPr>
              <a:t> Himmel, </a:t>
            </a:r>
            <a:r>
              <a:rPr lang="en-US" altLang="en-US" sz="1600" b="1" dirty="0" err="1">
                <a:solidFill>
                  <a:srgbClr val="FFFF00"/>
                </a:solidFill>
              </a:rPr>
              <a:t>dass</a:t>
            </a:r>
            <a:r>
              <a:rPr lang="en-US" altLang="en-US" sz="1600" b="1" dirty="0">
                <a:solidFill>
                  <a:srgbClr val="FFFF00"/>
                </a:solidFill>
              </a:rPr>
              <a:t> Allah </a:t>
            </a:r>
            <a:r>
              <a:rPr lang="en-US" altLang="en-US" sz="1600" b="1" dirty="0" err="1">
                <a:solidFill>
                  <a:srgbClr val="FFFF00"/>
                </a:solidFill>
              </a:rPr>
              <a:t>denjenigen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vergeben</a:t>
            </a:r>
            <a:r>
              <a:rPr lang="en-US" altLang="en-US" sz="1600" b="1" dirty="0">
                <a:solidFill>
                  <a:srgbClr val="FFFF00"/>
                </a:solidFill>
              </a:rPr>
              <a:t> hat, die das Grab von Imam Hussain (A) </a:t>
            </a:r>
            <a:r>
              <a:rPr lang="en-US" altLang="en-US" sz="1600" b="1" dirty="0" err="1">
                <a:solidFill>
                  <a:srgbClr val="FFFF00"/>
                </a:solidFill>
              </a:rPr>
              <a:t>besucht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haben</a:t>
            </a:r>
            <a:r>
              <a:rPr lang="en-US" altLang="en-US" sz="1600" b="1" dirty="0">
                <a:solidFill>
                  <a:srgbClr val="FFFF00"/>
                </a:solidFill>
              </a:rPr>
              <a:t>.  </a:t>
            </a:r>
            <a:r>
              <a:rPr lang="en-US" altLang="en-US" sz="1600" b="1" dirty="0" err="1">
                <a:solidFill>
                  <a:srgbClr val="FFFF00"/>
                </a:solidFill>
              </a:rPr>
              <a:t>Während</a:t>
            </a:r>
            <a:r>
              <a:rPr lang="en-US" altLang="en-US" sz="1600" b="1" dirty="0">
                <a:solidFill>
                  <a:srgbClr val="FFFF00"/>
                </a:solidFill>
              </a:rPr>
              <a:t> du die </a:t>
            </a:r>
            <a:r>
              <a:rPr lang="en-US" altLang="en-US" sz="1600" b="1" dirty="0" err="1">
                <a:solidFill>
                  <a:srgbClr val="FFFF00"/>
                </a:solidFill>
              </a:rPr>
              <a:t>Ziyarah</a:t>
            </a:r>
            <a:r>
              <a:rPr lang="en-US" altLang="en-US" sz="1600" b="1" dirty="0">
                <a:solidFill>
                  <a:srgbClr val="FFFF00"/>
                </a:solidFill>
              </a:rPr>
              <a:t> von Imam Hussain (A) </a:t>
            </a:r>
            <a:r>
              <a:rPr lang="en-US" altLang="en-US" sz="1600" b="1" dirty="0" err="1">
                <a:solidFill>
                  <a:srgbClr val="FFFF00"/>
                </a:solidFill>
              </a:rPr>
              <a:t>verrichtest</a:t>
            </a:r>
            <a:r>
              <a:rPr lang="en-US" altLang="en-US" sz="1600" b="1" dirty="0">
                <a:solidFill>
                  <a:srgbClr val="FFFF00"/>
                </a:solidFill>
              </a:rPr>
              <a:t>, </a:t>
            </a:r>
            <a:r>
              <a:rPr lang="en-US" altLang="en-US" sz="1600" b="1" dirty="0" err="1">
                <a:solidFill>
                  <a:srgbClr val="FFFF00"/>
                </a:solidFill>
              </a:rPr>
              <a:t>erinnere</a:t>
            </a:r>
            <a:r>
              <a:rPr lang="en-US" altLang="en-US" sz="1600" b="1" dirty="0">
                <a:solidFill>
                  <a:srgbClr val="FFFF00"/>
                </a:solidFill>
              </a:rPr>
              <a:t> dich </a:t>
            </a:r>
            <a:r>
              <a:rPr lang="en-US" altLang="en-US" sz="1600" b="1" dirty="0" err="1">
                <a:solidFill>
                  <a:srgbClr val="FFFF00"/>
                </a:solidFill>
              </a:rPr>
              <a:t>daran</a:t>
            </a:r>
            <a:r>
              <a:rPr lang="en-US" altLang="en-US" sz="1600" b="1" dirty="0">
                <a:solidFill>
                  <a:srgbClr val="FFFF00"/>
                </a:solidFill>
              </a:rPr>
              <a:t>, </a:t>
            </a:r>
            <a:r>
              <a:rPr lang="en-US" altLang="en-US" sz="1600" b="1" dirty="0" err="1">
                <a:solidFill>
                  <a:srgbClr val="FFFF00"/>
                </a:solidFill>
              </a:rPr>
              <a:t>dass</a:t>
            </a:r>
            <a:r>
              <a:rPr lang="en-US" altLang="en-US" sz="1600" b="1" dirty="0">
                <a:solidFill>
                  <a:srgbClr val="FFFF00"/>
                </a:solidFill>
              </a:rPr>
              <a:t> in </a:t>
            </a:r>
            <a:r>
              <a:rPr lang="en-US" altLang="en-US" sz="1600" b="1" dirty="0" err="1">
                <a:solidFill>
                  <a:srgbClr val="FFFF00"/>
                </a:solidFill>
              </a:rPr>
              <a:t>dieser</a:t>
            </a:r>
            <a:r>
              <a:rPr lang="en-US" altLang="en-US" sz="1600" b="1" dirty="0">
                <a:solidFill>
                  <a:srgbClr val="FFFF00"/>
                </a:solidFill>
              </a:rPr>
              <a:t> Nacht die </a:t>
            </a:r>
            <a:r>
              <a:rPr lang="en-US" altLang="en-US" sz="1600" b="1" dirty="0" err="1">
                <a:solidFill>
                  <a:srgbClr val="FFFF00"/>
                </a:solidFill>
              </a:rPr>
              <a:t>Seelen</a:t>
            </a:r>
            <a:r>
              <a:rPr lang="en-US" altLang="en-US" sz="1600" b="1" dirty="0">
                <a:solidFill>
                  <a:srgbClr val="FFFF00"/>
                </a:solidFill>
              </a:rPr>
              <a:t> von 124.000 </a:t>
            </a:r>
            <a:r>
              <a:rPr lang="en-US" altLang="en-US" sz="1600" b="1" dirty="0" err="1">
                <a:solidFill>
                  <a:srgbClr val="FFFF00"/>
                </a:solidFill>
              </a:rPr>
              <a:t>Propheten</a:t>
            </a:r>
            <a:r>
              <a:rPr lang="en-US" altLang="en-US" sz="1600" b="1" dirty="0">
                <a:solidFill>
                  <a:srgbClr val="FFFF00"/>
                </a:solidFill>
              </a:rPr>
              <a:t> (</a:t>
            </a:r>
            <a:r>
              <a:rPr lang="en-US" altLang="en-US" sz="1600" b="1" dirty="0" err="1">
                <a:solidFill>
                  <a:srgbClr val="FFFF00"/>
                </a:solidFill>
              </a:rPr>
              <a:t>Friede</a:t>
            </a:r>
            <a:r>
              <a:rPr lang="en-US" altLang="en-US" sz="1600" b="1" dirty="0">
                <a:solidFill>
                  <a:srgbClr val="FFFF00"/>
                </a:solidFill>
              </a:rPr>
              <a:t> sei </a:t>
            </a:r>
            <a:r>
              <a:rPr lang="en-US" altLang="en-US" sz="1600" b="1" dirty="0" err="1">
                <a:solidFill>
                  <a:srgbClr val="FFFF00"/>
                </a:solidFill>
              </a:rPr>
              <a:t>mit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ihnen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allen</a:t>
            </a:r>
            <a:r>
              <a:rPr lang="en-US" altLang="en-US" sz="1600" b="1" dirty="0">
                <a:solidFill>
                  <a:srgbClr val="FFFF00"/>
                </a:solidFill>
              </a:rPr>
              <a:t>) den Imam </a:t>
            </a:r>
            <a:r>
              <a:rPr lang="en-US" altLang="en-US" sz="1600" b="1" dirty="0" err="1">
                <a:solidFill>
                  <a:srgbClr val="FFFF00"/>
                </a:solidFill>
              </a:rPr>
              <a:t>besuchen</a:t>
            </a:r>
            <a:r>
              <a:rPr lang="en-US" altLang="en-US" sz="1600" b="1" dirty="0">
                <a:solidFill>
                  <a:srgbClr val="FFFF00"/>
                </a:solidFill>
              </a:rPr>
              <a:t>, der </a:t>
            </a:r>
            <a:r>
              <a:rPr lang="en-US" altLang="en-US" sz="1600" b="1" dirty="0" err="1">
                <a:solidFill>
                  <a:srgbClr val="FFFF00"/>
                </a:solidFill>
              </a:rPr>
              <a:t>sich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unserer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inneren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spirituellen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Realität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bewusst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ist</a:t>
            </a:r>
            <a:r>
              <a:rPr lang="en-US" altLang="en-US" sz="1600" b="1" dirty="0">
                <a:solidFill>
                  <a:srgbClr val="FFFF00"/>
                </a:solidFill>
              </a:rPr>
              <a:t> und </a:t>
            </a:r>
            <a:r>
              <a:rPr lang="en-US" altLang="en-US" sz="1600" b="1" dirty="0" err="1">
                <a:solidFill>
                  <a:srgbClr val="FFFF00"/>
                </a:solidFill>
              </a:rPr>
              <a:t>verletzt</a:t>
            </a:r>
            <a:r>
              <a:rPr lang="en-US" altLang="en-US" sz="1600" b="1" dirty="0">
                <a:solidFill>
                  <a:srgbClr val="FFFF00"/>
                </a:solidFill>
              </a:rPr>
              <a:t> und </a:t>
            </a:r>
            <a:r>
              <a:rPr lang="en-US" altLang="en-US" sz="1600" b="1" dirty="0" err="1">
                <a:solidFill>
                  <a:srgbClr val="FFFF00"/>
                </a:solidFill>
              </a:rPr>
              <a:t>abgestoßen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ist</a:t>
            </a:r>
            <a:r>
              <a:rPr lang="en-US" altLang="en-US" sz="1600" b="1" dirty="0">
                <a:solidFill>
                  <a:srgbClr val="FFFF00"/>
                </a:solidFill>
              </a:rPr>
              <a:t> von </a:t>
            </a:r>
            <a:r>
              <a:rPr lang="en-US" altLang="en-US" sz="1600" b="1" dirty="0" err="1">
                <a:solidFill>
                  <a:srgbClr val="FFFF00"/>
                </a:solidFill>
              </a:rPr>
              <a:t>unseren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wiederholten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schlechten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Taten</a:t>
            </a:r>
            <a:r>
              <a:rPr lang="en-US" altLang="en-US" sz="1600" b="1" dirty="0">
                <a:solidFill>
                  <a:srgbClr val="FFFF00"/>
                </a:solidFill>
              </a:rPr>
              <a:t> und </a:t>
            </a:r>
            <a:r>
              <a:rPr lang="en-US" altLang="en-US" sz="1600" b="1" dirty="0" err="1">
                <a:solidFill>
                  <a:srgbClr val="FFFF00"/>
                </a:solidFill>
              </a:rPr>
              <a:t>unserer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Gleichgültigkeit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gegenüber</a:t>
            </a:r>
            <a:r>
              <a:rPr lang="en-US" altLang="en-US" sz="1600" b="1" dirty="0">
                <a:solidFill>
                  <a:srgbClr val="FFFF00"/>
                </a:solidFill>
              </a:rPr>
              <a:t> den </a:t>
            </a:r>
            <a:r>
              <a:rPr lang="en-US" altLang="en-US" sz="1600" b="1" dirty="0" err="1">
                <a:solidFill>
                  <a:srgbClr val="FFFF00"/>
                </a:solidFill>
              </a:rPr>
              <a:t>Geboten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Gottes</a:t>
            </a:r>
            <a:r>
              <a:rPr lang="en-US" altLang="en-US" sz="1600" b="1" dirty="0">
                <a:solidFill>
                  <a:srgbClr val="FFFF00"/>
                </a:solidFill>
              </a:rPr>
              <a:t>; </a:t>
            </a:r>
            <a:r>
              <a:rPr lang="en-US" altLang="en-US" sz="1600" b="1" dirty="0" err="1">
                <a:solidFill>
                  <a:srgbClr val="FFFF00"/>
                </a:solidFill>
              </a:rPr>
              <a:t>daher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sollten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wir</a:t>
            </a:r>
            <a:r>
              <a:rPr lang="en-US" altLang="en-US" sz="1600" b="1" dirty="0">
                <a:solidFill>
                  <a:srgbClr val="FFFF00"/>
                </a:solidFill>
              </a:rPr>
              <a:t> es </a:t>
            </a:r>
            <a:r>
              <a:rPr lang="en-US" altLang="en-US" sz="1600" b="1" dirty="0" err="1">
                <a:solidFill>
                  <a:srgbClr val="FFFF00"/>
                </a:solidFill>
              </a:rPr>
              <a:t>vermeiden</a:t>
            </a:r>
            <a:r>
              <a:rPr lang="en-US" altLang="en-US" sz="1600" b="1" dirty="0">
                <a:solidFill>
                  <a:srgbClr val="FFFF00"/>
                </a:solidFill>
              </a:rPr>
              <a:t>, </a:t>
            </a:r>
            <a:r>
              <a:rPr lang="en-US" altLang="en-US" sz="1600" b="1" dirty="0" err="1">
                <a:solidFill>
                  <a:srgbClr val="FFFF00"/>
                </a:solidFill>
              </a:rPr>
              <a:t>uns</a:t>
            </a:r>
            <a:r>
              <a:rPr lang="en-US" altLang="en-US" sz="1600" b="1" dirty="0">
                <a:solidFill>
                  <a:srgbClr val="FFFF00"/>
                </a:solidFill>
              </a:rPr>
              <a:t> in </a:t>
            </a:r>
            <a:r>
              <a:rPr lang="en-US" altLang="en-US" sz="1600" b="1" dirty="0" err="1">
                <a:solidFill>
                  <a:srgbClr val="FFFF00"/>
                </a:solidFill>
              </a:rPr>
              <a:t>dieser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großen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Audienz</a:t>
            </a:r>
            <a:r>
              <a:rPr lang="en-US" altLang="en-US" sz="1600" b="1" dirty="0">
                <a:solidFill>
                  <a:srgbClr val="FFFF00"/>
                </a:solidFill>
              </a:rPr>
              <a:t> des Imams </a:t>
            </a:r>
            <a:r>
              <a:rPr lang="en-US" altLang="en-US" sz="1600" b="1" dirty="0" err="1">
                <a:solidFill>
                  <a:srgbClr val="FFFF00"/>
                </a:solidFill>
              </a:rPr>
              <a:t>zu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blamieren</a:t>
            </a:r>
            <a:r>
              <a:rPr lang="en-US" altLang="en-US" sz="1600" b="1" dirty="0">
                <a:solidFill>
                  <a:srgbClr val="FFFF00"/>
                </a:solidFill>
              </a:rPr>
              <a:t>. </a:t>
            </a:r>
            <a:r>
              <a:rPr lang="en-US" altLang="en-US" sz="1600" b="1" dirty="0" err="1">
                <a:solidFill>
                  <a:srgbClr val="FFFF00"/>
                </a:solidFill>
              </a:rPr>
              <a:t>Verbinden</a:t>
            </a:r>
            <a:r>
              <a:rPr lang="en-US" altLang="en-US" sz="1600" b="1" dirty="0">
                <a:solidFill>
                  <a:srgbClr val="FFFF00"/>
                </a:solidFill>
              </a:rPr>
              <a:t> Sie </a:t>
            </a:r>
            <a:r>
              <a:rPr lang="en-US" altLang="en-US" sz="1600" b="1" dirty="0" err="1">
                <a:solidFill>
                  <a:srgbClr val="FFFF00"/>
                </a:solidFill>
              </a:rPr>
              <a:t>auch</a:t>
            </a:r>
            <a:r>
              <a:rPr lang="en-US" altLang="en-US" sz="1600" b="1" dirty="0">
                <a:solidFill>
                  <a:srgbClr val="FFFF00"/>
                </a:solidFill>
              </a:rPr>
              <a:t> die </a:t>
            </a:r>
            <a:r>
              <a:rPr lang="en-US" altLang="en-US" sz="1600" b="1" dirty="0" err="1">
                <a:solidFill>
                  <a:srgbClr val="FFFF00"/>
                </a:solidFill>
              </a:rPr>
              <a:t>Themen</a:t>
            </a:r>
            <a:r>
              <a:rPr lang="en-US" altLang="en-US" sz="1600" b="1" dirty="0">
                <a:solidFill>
                  <a:srgbClr val="FFFF00"/>
                </a:solidFill>
              </a:rPr>
              <a:t> in der ZIYARAH von: - </a:t>
            </a:r>
            <a:r>
              <a:rPr lang="en-US" altLang="en-US" sz="1600" b="1" dirty="0" err="1">
                <a:solidFill>
                  <a:srgbClr val="FFFF00"/>
                </a:solidFill>
              </a:rPr>
              <a:t>Festes</a:t>
            </a:r>
            <a:r>
              <a:rPr lang="en-US" altLang="en-US" sz="1600" b="1" dirty="0">
                <a:solidFill>
                  <a:srgbClr val="FFFF00"/>
                </a:solidFill>
              </a:rPr>
              <a:t> Band der Liebe und des </a:t>
            </a:r>
            <a:r>
              <a:rPr lang="en-US" altLang="en-US" sz="1600" b="1" dirty="0" err="1">
                <a:solidFill>
                  <a:srgbClr val="FFFF00"/>
                </a:solidFill>
              </a:rPr>
              <a:t>Gehorsams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gegenüber</a:t>
            </a:r>
            <a:r>
              <a:rPr lang="en-US" altLang="en-US" sz="1600" b="1" dirty="0">
                <a:solidFill>
                  <a:srgbClr val="FFFF00"/>
                </a:solidFill>
              </a:rPr>
              <a:t> Gott (SALAT). -</a:t>
            </a:r>
            <a:r>
              <a:rPr lang="en-US" altLang="en-US" sz="1600" b="1" dirty="0" err="1">
                <a:solidFill>
                  <a:srgbClr val="FFFF00"/>
                </a:solidFill>
              </a:rPr>
              <a:t>Wirtschaftliche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Besserstellung</a:t>
            </a:r>
            <a:r>
              <a:rPr lang="en-US" altLang="en-US" sz="1600" b="1" dirty="0">
                <a:solidFill>
                  <a:srgbClr val="FFFF00"/>
                </a:solidFill>
              </a:rPr>
              <a:t> der Gemeinschaft (ZAKAT).  -</a:t>
            </a:r>
            <a:r>
              <a:rPr lang="en-US" altLang="en-US" sz="1600" b="1" dirty="0" err="1">
                <a:solidFill>
                  <a:srgbClr val="FFFF00"/>
                </a:solidFill>
              </a:rPr>
              <a:t>Gesamte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Mobilisierung</a:t>
            </a:r>
            <a:r>
              <a:rPr lang="en-US" altLang="en-US" sz="1600" b="1" dirty="0">
                <a:solidFill>
                  <a:srgbClr val="FFFF00"/>
                </a:solidFill>
              </a:rPr>
              <a:t> der </a:t>
            </a:r>
            <a:r>
              <a:rPr lang="en-US" altLang="en-US" sz="1600" b="1" dirty="0" err="1">
                <a:solidFill>
                  <a:srgbClr val="FFFF00"/>
                </a:solidFill>
              </a:rPr>
              <a:t>Kräfte</a:t>
            </a:r>
            <a:r>
              <a:rPr lang="en-US" altLang="en-US" sz="1600" b="1" dirty="0">
                <a:solidFill>
                  <a:srgbClr val="FFFF00"/>
                </a:solidFill>
              </a:rPr>
              <a:t> für die Tugend (AMR BIL MA`RUF).  -</a:t>
            </a:r>
            <a:r>
              <a:rPr lang="en-US" altLang="en-US" sz="1600" b="1" dirty="0" err="1">
                <a:solidFill>
                  <a:srgbClr val="FFFF00"/>
                </a:solidFill>
              </a:rPr>
              <a:t>Gesamte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Säuberung</a:t>
            </a:r>
            <a:r>
              <a:rPr lang="en-US" altLang="en-US" sz="1600" b="1" dirty="0">
                <a:solidFill>
                  <a:srgbClr val="FFFF00"/>
                </a:solidFill>
              </a:rPr>
              <a:t> der Gesellschaft </a:t>
            </a:r>
            <a:r>
              <a:rPr lang="en-US" altLang="en-US" sz="1600" b="1" dirty="0" err="1">
                <a:solidFill>
                  <a:srgbClr val="FFFF00"/>
                </a:solidFill>
              </a:rPr>
              <a:t>vom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Bösen</a:t>
            </a:r>
            <a:r>
              <a:rPr lang="en-US" altLang="en-US" sz="1600" b="1" dirty="0">
                <a:solidFill>
                  <a:srgbClr val="FFFF00"/>
                </a:solidFill>
              </a:rPr>
              <a:t>.  -</a:t>
            </a:r>
            <a:r>
              <a:rPr lang="en-US" altLang="en-US" sz="1600" b="1" dirty="0" err="1">
                <a:solidFill>
                  <a:srgbClr val="FFFF00"/>
                </a:solidFill>
              </a:rPr>
              <a:t>Gesamter</a:t>
            </a:r>
            <a:r>
              <a:rPr lang="en-US" altLang="en-US" sz="1600" b="1" dirty="0">
                <a:solidFill>
                  <a:srgbClr val="FFFF00"/>
                </a:solidFill>
              </a:rPr>
              <a:t> Krieg in </a:t>
            </a:r>
            <a:r>
              <a:rPr lang="en-US" altLang="en-US" sz="1600" b="1" dirty="0" err="1">
                <a:solidFill>
                  <a:srgbClr val="FFFF00"/>
                </a:solidFill>
              </a:rPr>
              <a:t>allen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Lebensbereichen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zur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Förderung</a:t>
            </a:r>
            <a:r>
              <a:rPr lang="en-US" altLang="en-US" sz="1600" b="1" dirty="0">
                <a:solidFill>
                  <a:srgbClr val="FFFF00"/>
                </a:solidFill>
              </a:rPr>
              <a:t> der </a:t>
            </a:r>
            <a:r>
              <a:rPr lang="en-US" altLang="en-US" sz="1600" b="1" dirty="0" err="1">
                <a:solidFill>
                  <a:srgbClr val="FFFF00"/>
                </a:solidFill>
              </a:rPr>
              <a:t>Wahrheit</a:t>
            </a:r>
            <a:r>
              <a:rPr lang="en-US" altLang="en-US" sz="1600" b="1" dirty="0">
                <a:solidFill>
                  <a:srgbClr val="FFFF00"/>
                </a:solidFill>
              </a:rPr>
              <a:t> (JIHAD). -</a:t>
            </a:r>
            <a:r>
              <a:rPr lang="en-US" altLang="en-US" sz="1600" b="1" dirty="0" err="1">
                <a:solidFill>
                  <a:srgbClr val="FFFF00"/>
                </a:solidFill>
              </a:rPr>
              <a:t>Großes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Ausharren</a:t>
            </a:r>
            <a:r>
              <a:rPr lang="en-US" altLang="en-US" sz="1600" b="1" dirty="0">
                <a:solidFill>
                  <a:srgbClr val="FFFF00"/>
                </a:solidFill>
              </a:rPr>
              <a:t> in </a:t>
            </a:r>
            <a:r>
              <a:rPr lang="en-US" altLang="en-US" sz="1600" b="1" dirty="0" err="1">
                <a:solidFill>
                  <a:srgbClr val="FFFF00"/>
                </a:solidFill>
              </a:rPr>
              <a:t>allen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sich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ergebenden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Schwierigkeiten</a:t>
            </a:r>
            <a:r>
              <a:rPr lang="en-US" altLang="en-US" sz="1600" b="1" dirty="0">
                <a:solidFill>
                  <a:srgbClr val="FFFF00"/>
                </a:solidFill>
              </a:rPr>
              <a:t> (SABR). -</a:t>
            </a:r>
            <a:r>
              <a:rPr lang="en-US" altLang="en-US" sz="1600" b="1" dirty="0" err="1">
                <a:solidFill>
                  <a:srgbClr val="FFFF00"/>
                </a:solidFill>
              </a:rPr>
              <a:t>Vollständige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Distanzierung</a:t>
            </a:r>
            <a:r>
              <a:rPr lang="en-US" altLang="en-US" sz="1600" b="1" dirty="0">
                <a:solidFill>
                  <a:srgbClr val="FFFF00"/>
                </a:solidFill>
              </a:rPr>
              <a:t> (LA`NAH) von </a:t>
            </a:r>
            <a:r>
              <a:rPr lang="en-US" altLang="en-US" sz="1600" b="1" dirty="0" err="1">
                <a:solidFill>
                  <a:srgbClr val="FFFF00"/>
                </a:solidFill>
              </a:rPr>
              <a:t>allen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Formen</a:t>
            </a:r>
            <a:r>
              <a:rPr lang="en-US" altLang="en-US" sz="1600" b="1" dirty="0">
                <a:solidFill>
                  <a:srgbClr val="FFFF00"/>
                </a:solidFill>
              </a:rPr>
              <a:t> der </a:t>
            </a:r>
            <a:r>
              <a:rPr lang="en-US" altLang="en-US" sz="1600" b="1" dirty="0" err="1">
                <a:solidFill>
                  <a:srgbClr val="FFFF00"/>
                </a:solidFill>
              </a:rPr>
              <a:t>Ungerechtigkeit</a:t>
            </a:r>
            <a:r>
              <a:rPr lang="en-US" altLang="en-US" sz="1600" b="1" dirty="0">
                <a:solidFill>
                  <a:srgbClr val="FFFF00"/>
                </a:solidFill>
              </a:rPr>
              <a:t> (DHULM) </a:t>
            </a:r>
            <a:r>
              <a:rPr lang="en-US" altLang="en-US" sz="1600" b="1" dirty="0" err="1">
                <a:solidFill>
                  <a:srgbClr val="FFFF00"/>
                </a:solidFill>
              </a:rPr>
              <a:t>mit</a:t>
            </a:r>
            <a:r>
              <a:rPr lang="en-US" altLang="en-US" sz="1600" b="1" dirty="0">
                <a:solidFill>
                  <a:srgbClr val="FFFF00"/>
                </a:solidFill>
              </a:rPr>
              <a:t> der </a:t>
            </a:r>
            <a:r>
              <a:rPr lang="en-US" altLang="en-US" sz="1600" b="1" dirty="0" err="1">
                <a:solidFill>
                  <a:srgbClr val="FFFF00"/>
                </a:solidFill>
              </a:rPr>
              <a:t>schicksalhaften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Gelegenheit</a:t>
            </a:r>
            <a:r>
              <a:rPr lang="en-US" altLang="en-US" sz="1600" b="1" dirty="0">
                <a:solidFill>
                  <a:srgbClr val="FFFF00"/>
                </a:solidFill>
              </a:rPr>
              <a:t> </a:t>
            </a:r>
            <a:r>
              <a:rPr lang="en-US" altLang="en-US" sz="1600" b="1" dirty="0" err="1">
                <a:solidFill>
                  <a:srgbClr val="FFFF00"/>
                </a:solidFill>
              </a:rPr>
              <a:t>dieser</a:t>
            </a:r>
            <a:r>
              <a:rPr lang="en-US" altLang="en-US" sz="1600" b="1" dirty="0">
                <a:solidFill>
                  <a:srgbClr val="FFFF00"/>
                </a:solidFill>
              </a:rPr>
              <a:t> Nacht und der </a:t>
            </a:r>
            <a:r>
              <a:rPr lang="en-US" altLang="en-US" sz="1600" b="1" dirty="0" err="1">
                <a:solidFill>
                  <a:srgbClr val="FFFF00"/>
                </a:solidFill>
              </a:rPr>
              <a:t>Entschlossenheit</a:t>
            </a:r>
            <a:r>
              <a:rPr lang="en-US" altLang="en-US" sz="1600" b="1" dirty="0">
                <a:solidFill>
                  <a:srgbClr val="FFFF00"/>
                </a:solidFill>
              </a:rPr>
              <a:t>, </a:t>
            </a:r>
            <a:r>
              <a:rPr lang="en-US" altLang="en-US" sz="1600" b="1" dirty="0" err="1">
                <a:solidFill>
                  <a:srgbClr val="FFFF00"/>
                </a:solidFill>
              </a:rPr>
              <a:t>aktiv</a:t>
            </a:r>
            <a:r>
              <a:rPr lang="en-US" altLang="en-US" sz="1600" b="1" dirty="0">
                <a:solidFill>
                  <a:srgbClr val="FFFF00"/>
                </a:solidFill>
              </a:rPr>
              <a:t> an der </a:t>
            </a:r>
            <a:r>
              <a:rPr lang="en-US" altLang="en-US" sz="1600" b="1" dirty="0" err="1">
                <a:solidFill>
                  <a:srgbClr val="FFFF00"/>
                </a:solidFill>
              </a:rPr>
              <a:t>Verbesserung</a:t>
            </a:r>
            <a:r>
              <a:rPr lang="en-US" altLang="en-US" sz="1600" b="1" dirty="0">
                <a:solidFill>
                  <a:srgbClr val="FFFF00"/>
                </a:solidFill>
              </a:rPr>
              <a:t> der Zukunft </a:t>
            </a:r>
            <a:r>
              <a:rPr lang="en-US" altLang="en-US" sz="1600" b="1" dirty="0" err="1">
                <a:solidFill>
                  <a:srgbClr val="FFFF00"/>
                </a:solidFill>
              </a:rPr>
              <a:t>mitzuwirken</a:t>
            </a:r>
            <a:r>
              <a:rPr lang="en-US" altLang="en-US" sz="1600" b="1" dirty="0">
                <a:solidFill>
                  <a:srgbClr val="FFFF00"/>
                </a:solidFill>
              </a:rPr>
              <a:t>, in </a:t>
            </a:r>
            <a:r>
              <a:rPr lang="en-US" altLang="en-US" sz="1600" b="1" dirty="0" err="1">
                <a:solidFill>
                  <a:srgbClr val="FFFF00"/>
                </a:solidFill>
              </a:rPr>
              <a:t>Vorbereitung</a:t>
            </a:r>
            <a:r>
              <a:rPr lang="en-US" altLang="en-US" sz="1600" b="1" dirty="0">
                <a:solidFill>
                  <a:srgbClr val="FFFF00"/>
                </a:solidFill>
              </a:rPr>
              <a:t> auf die </a:t>
            </a:r>
            <a:r>
              <a:rPr lang="en-US" altLang="en-US" sz="1600" b="1" dirty="0" err="1">
                <a:solidFill>
                  <a:srgbClr val="FFFF00"/>
                </a:solidFill>
              </a:rPr>
              <a:t>Wiederkunft</a:t>
            </a:r>
            <a:r>
              <a:rPr lang="en-US" altLang="en-US" sz="1600" b="1" dirty="0">
                <a:solidFill>
                  <a:srgbClr val="FFFF00"/>
                </a:solidFill>
              </a:rPr>
              <a:t> AL-MAHDIs.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4876FD-BBEF-411E-BE49-9164E5ABA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اَللَّهُمَّ صَلِّ عَلَى مُحَمَّدٍ وَ آلِ مُحَمَّد</a:t>
            </a:r>
            <a:endParaRPr lang="en-US" sz="8800" kern="1200" dirty="0">
              <a:latin typeface="Arabic Typesetting" panose="03020402040406030203" pitchFamily="66" charset="-78"/>
              <a:ea typeface="+mn-ea"/>
              <a:cs typeface="Arabic Typesetting" panose="03020402040406030203" pitchFamily="66" charset="-78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91E0E0D-B7D5-4AA6-828E-10547331A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>
              <a:defRPr/>
            </a:pPr>
            <a:r>
              <a:rPr lang="en-US" sz="3600" b="1" dirty="0">
                <a:ea typeface="MS Mincho" pitchFamily="49" charset="-128"/>
              </a:rPr>
              <a:t>Oh Allah, </a:t>
            </a:r>
            <a:r>
              <a:rPr lang="en-US" sz="3600" b="1" dirty="0" err="1">
                <a:ea typeface="MS Mincho" pitchFamily="49" charset="-128"/>
              </a:rPr>
              <a:t>segne</a:t>
            </a:r>
            <a:r>
              <a:rPr lang="en-US" sz="3600" b="1" dirty="0">
                <a:ea typeface="MS Mincho" pitchFamily="49" charset="-128"/>
              </a:rPr>
              <a:t> Muhammad</a:t>
            </a:r>
          </a:p>
          <a:p>
            <a:pPr marL="342900" indent="-342900">
              <a:defRPr/>
            </a:pPr>
            <a:r>
              <a:rPr lang="en-US" sz="3600" b="1" dirty="0">
                <a:ea typeface="MS Mincho" pitchFamily="49" charset="-128"/>
              </a:rPr>
              <a:t>und die </a:t>
            </a:r>
            <a:r>
              <a:rPr lang="en-US" sz="3600" b="1" dirty="0" err="1">
                <a:ea typeface="MS Mincho" pitchFamily="49" charset="-128"/>
              </a:rPr>
              <a:t>Familie</a:t>
            </a:r>
            <a:r>
              <a:rPr lang="en-US" sz="3600" b="1" dirty="0">
                <a:ea typeface="MS Mincho" pitchFamily="49" charset="-128"/>
              </a:rPr>
              <a:t> </a:t>
            </a:r>
            <a:r>
              <a:rPr lang="en-US" sz="3600" b="1" dirty="0" err="1">
                <a:ea typeface="MS Mincho" pitchFamily="49" charset="-128"/>
              </a:rPr>
              <a:t>Muhammads</a:t>
            </a:r>
            <a:r>
              <a:rPr lang="en-US" sz="3600" b="1">
                <a:ea typeface="MS Mincho" pitchFamily="49" charset="-128"/>
              </a:rPr>
              <a:t>.</a:t>
            </a:r>
            <a:endParaRPr lang="en-US" sz="3600" b="1" dirty="0">
              <a:ea typeface="MS Mincho" pitchFamily="49" charset="-128"/>
            </a:endParaRPr>
          </a:p>
        </p:txBody>
      </p:sp>
      <p:sp>
        <p:nvSpPr>
          <p:cNvPr id="5124" name="Subtitle 4">
            <a:extLst>
              <a:ext uri="{FF2B5EF4-FFF2-40B4-BE49-F238E27FC236}">
                <a16:creationId xmlns:a16="http://schemas.microsoft.com/office/drawing/2014/main" id="{097FCD2E-1F34-421A-9658-A353AD0624B4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allāhumma ṣalli `alā muḥammadin wa āli muḥammad</a:t>
            </a:r>
          </a:p>
        </p:txBody>
      </p:sp>
      <p:sp>
        <p:nvSpPr>
          <p:cNvPr id="5125" name="Text Box 13">
            <a:extLst>
              <a:ext uri="{FF2B5EF4-FFF2-40B4-BE49-F238E27FC236}">
                <a16:creationId xmlns:a16="http://schemas.microsoft.com/office/drawing/2014/main" id="{DAD988AE-9F42-4C6B-8FFC-59AA63DC3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98DD81-C6B6-4C9D-975B-1FFD8A8D8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بِسْمِ ٱللَّـهِ ٱلرَّحْمَـٰنِ ٱلرَّحِيمِ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61F7022-3F5C-4B15-80D0-593074F7B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de-DE" sz="3600" b="1" kern="1200" dirty="0">
                <a:ea typeface="MS Mincho" pitchFamily="49" charset="-128"/>
              </a:rPr>
              <a:t>Im Namen Allahs, des Allbarmherzigen, des Allerbarmers</a:t>
            </a:r>
            <a:endParaRPr lang="en-US" sz="3600" b="1" kern="1200" dirty="0">
              <a:ea typeface="MS Mincho" pitchFamily="49" charset="-128"/>
            </a:endParaRPr>
          </a:p>
        </p:txBody>
      </p:sp>
      <p:sp>
        <p:nvSpPr>
          <p:cNvPr id="6148" name="Subtitle 4">
            <a:extLst>
              <a:ext uri="{FF2B5EF4-FFF2-40B4-BE49-F238E27FC236}">
                <a16:creationId xmlns:a16="http://schemas.microsoft.com/office/drawing/2014/main" id="{060B68F5-6BD7-492A-9F85-CDF77902360F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bis-mil-lāhir-raḥ- manir-raḥīm</a:t>
            </a:r>
          </a:p>
        </p:txBody>
      </p:sp>
      <p:sp>
        <p:nvSpPr>
          <p:cNvPr id="6149" name="Text Box 13">
            <a:extLst>
              <a:ext uri="{FF2B5EF4-FFF2-40B4-BE49-F238E27FC236}">
                <a16:creationId xmlns:a16="http://schemas.microsoft.com/office/drawing/2014/main" id="{4DC4F642-4D46-44D8-A69C-100D53251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CB49A8-22C4-4FAE-A9D0-EF2F848C6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السّلامُ عَلَيْكَ يَا بْنَ رَسُولِ اللّهِ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6B7B90-216A-4957-8D16-5D43C90F4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Friede sei mit dir, o Sohn des </a:t>
            </a:r>
            <a:r>
              <a:rPr lang="en-US" sz="3600" b="1" kern="1200" dirty="0" err="1">
                <a:ea typeface="MS Mincho" pitchFamily="49" charset="-128"/>
              </a:rPr>
              <a:t>Propheten</a:t>
            </a:r>
            <a:r>
              <a:rPr lang="en-US" sz="3600" b="1" kern="1200" dirty="0">
                <a:ea typeface="MS Mincho" pitchFamily="49" charset="-128"/>
              </a:rPr>
              <a:t> Allahs.</a:t>
            </a:r>
          </a:p>
        </p:txBody>
      </p:sp>
      <p:sp>
        <p:nvSpPr>
          <p:cNvPr id="7172" name="Subtitle 4">
            <a:extLst>
              <a:ext uri="{FF2B5EF4-FFF2-40B4-BE49-F238E27FC236}">
                <a16:creationId xmlns:a16="http://schemas.microsoft.com/office/drawing/2014/main" id="{66DA115B-8B8A-4431-9645-A4A9708EBD28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alssalāmu `alayka yabna rasūli allāhi</a:t>
            </a:r>
          </a:p>
        </p:txBody>
      </p:sp>
      <p:sp>
        <p:nvSpPr>
          <p:cNvPr id="7173" name="Text Box 13">
            <a:extLst>
              <a:ext uri="{FF2B5EF4-FFF2-40B4-BE49-F238E27FC236}">
                <a16:creationId xmlns:a16="http://schemas.microsoft.com/office/drawing/2014/main" id="{E83C0B18-045B-4DC2-93FF-A0ABA08D7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E4AE6E-3852-4834-B076-204E522C6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السّلامُ عَلَيْكَ يَا بْنَ أَمِيرِالْمُؤْمِنِينَ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26638C5-70D9-4369-A4F7-B290F91D3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Friede sei mit dir, o Sohn des Befehlshabers der Gläubigen.</a:t>
            </a:r>
          </a:p>
        </p:txBody>
      </p:sp>
      <p:sp>
        <p:nvSpPr>
          <p:cNvPr id="8196" name="Subtitle 4">
            <a:extLst>
              <a:ext uri="{FF2B5EF4-FFF2-40B4-BE49-F238E27FC236}">
                <a16:creationId xmlns:a16="http://schemas.microsoft.com/office/drawing/2014/main" id="{B7B278A2-F723-4229-BC9D-6F96F9431F96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alssalāmu `alayka yabna amīrilmu'minīna</a:t>
            </a:r>
          </a:p>
        </p:txBody>
      </p:sp>
      <p:sp>
        <p:nvSpPr>
          <p:cNvPr id="8197" name="Text Box 13">
            <a:extLst>
              <a:ext uri="{FF2B5EF4-FFF2-40B4-BE49-F238E27FC236}">
                <a16:creationId xmlns:a16="http://schemas.microsoft.com/office/drawing/2014/main" id="{4377541D-BDC8-43BE-89EC-65629AFFA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9EFACD-D972-4638-8801-C64E1F4B2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السّلامُ عَلَيْكَ يَا بْنَ الصّدّيقَةِ الطَّاهِرَةِ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B00887-9E93-4DC8-8E5E-D749969AD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Friede sei mit dir, o Sohn der wahrhaftigen, </a:t>
            </a:r>
            <a:r>
              <a:rPr lang="en-US" sz="3600" b="1" kern="1200" dirty="0" err="1">
                <a:ea typeface="MS Mincho" pitchFamily="49" charset="-128"/>
              </a:rPr>
              <a:t>Reinen</a:t>
            </a:r>
            <a:endParaRPr lang="en-US" sz="3600" b="1" kern="1200" dirty="0">
              <a:ea typeface="MS Mincho" pitchFamily="49" charset="-128"/>
            </a:endParaRPr>
          </a:p>
        </p:txBody>
      </p:sp>
      <p:sp>
        <p:nvSpPr>
          <p:cNvPr id="9220" name="Subtitle 4">
            <a:extLst>
              <a:ext uri="{FF2B5EF4-FFF2-40B4-BE49-F238E27FC236}">
                <a16:creationId xmlns:a16="http://schemas.microsoft.com/office/drawing/2014/main" id="{90F137DA-D91B-429D-B169-A90E8DD9AD81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alssalāmu `alayka yabna alṣṣiddīqati alṭṭāhirati</a:t>
            </a:r>
          </a:p>
        </p:txBody>
      </p:sp>
      <p:sp>
        <p:nvSpPr>
          <p:cNvPr id="9221" name="Text Box 13">
            <a:extLst>
              <a:ext uri="{FF2B5EF4-FFF2-40B4-BE49-F238E27FC236}">
                <a16:creationId xmlns:a16="http://schemas.microsoft.com/office/drawing/2014/main" id="{61C08650-BE23-46CC-AD66-1C8BFE449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7B3914-230C-4356-80DE-94255BE70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فَاطِمَةَ سَيّدَةِ نِسَاءِ الْعَالَمِينَ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7F7853E-8A2A-4DC1-BACB-CBC952F81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 err="1">
                <a:ea typeface="MS Mincho" pitchFamily="49" charset="-128"/>
              </a:rPr>
              <a:t>Fāṭimah</a:t>
            </a:r>
            <a:r>
              <a:rPr lang="en-US" sz="3600" b="1" kern="1200" dirty="0">
                <a:ea typeface="MS Mincho" pitchFamily="49" charset="-128"/>
              </a:rPr>
              <a:t>, die </a:t>
            </a:r>
            <a:r>
              <a:rPr lang="en-US" sz="3600" b="1" kern="1200" dirty="0" err="1">
                <a:ea typeface="MS Mincho" pitchFamily="49" charset="-128"/>
              </a:rPr>
              <a:t>Fürstin</a:t>
            </a:r>
            <a:r>
              <a:rPr lang="en-US" sz="3600" b="1" kern="1200" dirty="0">
                <a:ea typeface="MS Mincho" pitchFamily="49" charset="-128"/>
              </a:rPr>
              <a:t> der Frauen der </a:t>
            </a:r>
            <a:r>
              <a:rPr lang="en-US" sz="3600" b="1" kern="1200" dirty="0" err="1">
                <a:ea typeface="MS Mincho" pitchFamily="49" charset="-128"/>
              </a:rPr>
              <a:t>Welten</a:t>
            </a:r>
            <a:r>
              <a:rPr lang="en-US" sz="3600" b="1" kern="1200" dirty="0">
                <a:ea typeface="MS Mincho" pitchFamily="49" charset="-128"/>
              </a:rPr>
              <a:t>.</a:t>
            </a:r>
          </a:p>
        </p:txBody>
      </p:sp>
      <p:sp>
        <p:nvSpPr>
          <p:cNvPr id="10244" name="Subtitle 4">
            <a:extLst>
              <a:ext uri="{FF2B5EF4-FFF2-40B4-BE49-F238E27FC236}">
                <a16:creationId xmlns:a16="http://schemas.microsoft.com/office/drawing/2014/main" id="{8044825D-D8FC-4A8E-9B24-AA5FA8305D5E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sayyidati nisā'i al`ālamīna</a:t>
            </a:r>
          </a:p>
        </p:txBody>
      </p:sp>
      <p:sp>
        <p:nvSpPr>
          <p:cNvPr id="10245" name="Text Box 13">
            <a:extLst>
              <a:ext uri="{FF2B5EF4-FFF2-40B4-BE49-F238E27FC236}">
                <a16:creationId xmlns:a16="http://schemas.microsoft.com/office/drawing/2014/main" id="{EB2F1879-4B05-4907-98A9-4584BF4A8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007DD8-C545-4185-BB71-51F7B270F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السّلامُ عَلَيْكَ يَا مَوْلايَ يَا أَبَا عَبْدِاللّهِ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0F1ADF4-5870-43E6-9183-2375ACB4B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Friede sei mit dir, o mein Herr, </a:t>
            </a:r>
            <a:r>
              <a:rPr lang="en-US" sz="3600" b="1" kern="1200" dirty="0" err="1">
                <a:ea typeface="MS Mincho" pitchFamily="49" charset="-128"/>
              </a:rPr>
              <a:t>Abū-`Abdullāh</a:t>
            </a:r>
            <a:r>
              <a:rPr lang="en-US" sz="3600" b="1" kern="1200" dirty="0">
                <a:ea typeface="MS Mincho" pitchFamily="49" charset="-128"/>
              </a:rPr>
              <a:t>.</a:t>
            </a:r>
          </a:p>
        </p:txBody>
      </p:sp>
      <p:sp>
        <p:nvSpPr>
          <p:cNvPr id="11268" name="Subtitle 4">
            <a:extLst>
              <a:ext uri="{FF2B5EF4-FFF2-40B4-BE49-F238E27FC236}">
                <a16:creationId xmlns:a16="http://schemas.microsoft.com/office/drawing/2014/main" id="{2F49BBA0-E5B4-455D-A5A9-953A8D9EB0CD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alssalāmu `alayka yā mawlāiya yā abā `abdillāhi</a:t>
            </a:r>
          </a:p>
        </p:txBody>
      </p:sp>
      <p:sp>
        <p:nvSpPr>
          <p:cNvPr id="11269" name="Text Box 13">
            <a:extLst>
              <a:ext uri="{FF2B5EF4-FFF2-40B4-BE49-F238E27FC236}">
                <a16:creationId xmlns:a16="http://schemas.microsoft.com/office/drawing/2014/main" id="{8914B0C8-8290-4981-8AD8-3127C2CE1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F7C5C5-42D2-4FAA-A695-79E58EB6B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وَرَحْمَةُ اللّهِ وَبَرَكَاتُهُ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12D6A89-E39A-4477-AF5D-2BC961354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</a:t>
            </a:r>
            <a:r>
              <a:rPr lang="en-US" sz="3600" b="1" kern="1200" dirty="0" err="1">
                <a:ea typeface="MS Mincho" pitchFamily="49" charset="-128"/>
              </a:rPr>
              <a:t>Allahs</a:t>
            </a:r>
            <a:r>
              <a:rPr lang="en-US" sz="3600" b="1" kern="1200" dirty="0">
                <a:ea typeface="MS Mincho" pitchFamily="49" charset="-128"/>
              </a:rPr>
              <a:t> Barmherzigkeit und Segen.</a:t>
            </a:r>
          </a:p>
        </p:txBody>
      </p:sp>
      <p:sp>
        <p:nvSpPr>
          <p:cNvPr id="12292" name="Subtitle 4">
            <a:extLst>
              <a:ext uri="{FF2B5EF4-FFF2-40B4-BE49-F238E27FC236}">
                <a16:creationId xmlns:a16="http://schemas.microsoft.com/office/drawing/2014/main" id="{93174898-D26D-49C5-94C4-D78523C33E35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raḥmatu allāhi wa barakātuhu</a:t>
            </a:r>
          </a:p>
        </p:txBody>
      </p:sp>
      <p:sp>
        <p:nvSpPr>
          <p:cNvPr id="12293" name="Text Box 13">
            <a:extLst>
              <a:ext uri="{FF2B5EF4-FFF2-40B4-BE49-F238E27FC236}">
                <a16:creationId xmlns:a16="http://schemas.microsoft.com/office/drawing/2014/main" id="{2CE540D3-1F52-4CCA-8393-2FE7A5A1F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9793AD-FE23-41E1-A187-940070054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أَشْهَدُ أَنّكَ قَدْ أَقَمْتَ الصّلاةَ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308EEB2-DFA4-41BC-82A5-62DE9EA9D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Ich kann bezeugen, </a:t>
            </a:r>
            <a:r>
              <a:rPr lang="en-US" sz="3600" b="1" kern="1200" dirty="0" err="1">
                <a:ea typeface="MS Mincho" pitchFamily="49" charset="-128"/>
              </a:rPr>
              <a:t>dass</a:t>
            </a:r>
            <a:r>
              <a:rPr lang="en-US" sz="3600" b="1" kern="1200" dirty="0">
                <a:ea typeface="MS Mincho" pitchFamily="49" charset="-128"/>
              </a:rPr>
              <a:t> du die Gebete </a:t>
            </a:r>
            <a:r>
              <a:rPr lang="en-US" sz="3600" b="1" kern="1200" dirty="0" err="1">
                <a:ea typeface="MS Mincho" pitchFamily="49" charset="-128"/>
              </a:rPr>
              <a:t>gesprochen</a:t>
            </a:r>
            <a:r>
              <a:rPr lang="en-US" sz="3600" b="1" kern="1200" dirty="0">
                <a:ea typeface="MS Mincho" pitchFamily="49" charset="-128"/>
              </a:rPr>
              <a:t> hast,</a:t>
            </a:r>
          </a:p>
        </p:txBody>
      </p:sp>
      <p:sp>
        <p:nvSpPr>
          <p:cNvPr id="13316" name="Subtitle 4">
            <a:extLst>
              <a:ext uri="{FF2B5EF4-FFF2-40B4-BE49-F238E27FC236}">
                <a16:creationId xmlns:a16="http://schemas.microsoft.com/office/drawing/2014/main" id="{93E2328C-F690-4774-AF1C-AAD761CD4A1E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ah-hadu annaka qad aqamta alṣṣalata</a:t>
            </a:r>
          </a:p>
        </p:txBody>
      </p:sp>
      <p:sp>
        <p:nvSpPr>
          <p:cNvPr id="13317" name="Text Box 13">
            <a:extLst>
              <a:ext uri="{FF2B5EF4-FFF2-40B4-BE49-F238E27FC236}">
                <a16:creationId xmlns:a16="http://schemas.microsoft.com/office/drawing/2014/main" id="{3E75A0BC-AFCE-4F0C-A9DF-DCB6378E2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136EFD-A2D3-4921-ACA1-04923F6BE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وَآتَيْتَ الزّكَاةَ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B88AF02-4B00-4909-AF7D-21557775D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du hast die </a:t>
            </a:r>
            <a:r>
              <a:rPr lang="en-US" sz="3600" b="1" kern="1200" dirty="0" err="1">
                <a:ea typeface="MS Mincho" pitchFamily="49" charset="-128"/>
              </a:rPr>
              <a:t>Zakāt</a:t>
            </a:r>
            <a:r>
              <a:rPr lang="en-US" sz="3600" b="1" kern="1200" dirty="0">
                <a:ea typeface="MS Mincho" pitchFamily="49" charset="-128"/>
              </a:rPr>
              <a:t> bezahlt,</a:t>
            </a:r>
          </a:p>
        </p:txBody>
      </p:sp>
      <p:sp>
        <p:nvSpPr>
          <p:cNvPr id="14340" name="Subtitle 4">
            <a:extLst>
              <a:ext uri="{FF2B5EF4-FFF2-40B4-BE49-F238E27FC236}">
                <a16:creationId xmlns:a16="http://schemas.microsoft.com/office/drawing/2014/main" id="{EC530AD8-DCE5-43C4-A417-3DBC44E60397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ātayta alzzakata</a:t>
            </a:r>
          </a:p>
        </p:txBody>
      </p:sp>
      <p:sp>
        <p:nvSpPr>
          <p:cNvPr id="14341" name="Text Box 13">
            <a:extLst>
              <a:ext uri="{FF2B5EF4-FFF2-40B4-BE49-F238E27FC236}">
                <a16:creationId xmlns:a16="http://schemas.microsoft.com/office/drawing/2014/main" id="{7E46CDC4-E80E-4564-B923-348A18C4D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BEF276-C1DD-4E54-A53B-5228F8E82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وَأَمَرْتَ بِالْمَعْرُوفِ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AC8F6A-5A58-4ECC-A19E-FBC3F42C8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du hast das Recht gepachtet,</a:t>
            </a:r>
          </a:p>
        </p:txBody>
      </p:sp>
      <p:sp>
        <p:nvSpPr>
          <p:cNvPr id="15364" name="Subtitle 4">
            <a:extLst>
              <a:ext uri="{FF2B5EF4-FFF2-40B4-BE49-F238E27FC236}">
                <a16:creationId xmlns:a16="http://schemas.microsoft.com/office/drawing/2014/main" id="{4B0F9F60-59F1-47EB-A43B-1717EE1738A0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amarta bilma`rūfi</a:t>
            </a:r>
          </a:p>
        </p:txBody>
      </p:sp>
      <p:sp>
        <p:nvSpPr>
          <p:cNvPr id="15365" name="Text Box 13">
            <a:extLst>
              <a:ext uri="{FF2B5EF4-FFF2-40B4-BE49-F238E27FC236}">
                <a16:creationId xmlns:a16="http://schemas.microsoft.com/office/drawing/2014/main" id="{A684048B-1DA1-4951-BC91-D50857AC8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67D414-521E-48B6-BD8D-9B6C55277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وَنَهَيْتَ عَنِ الْمُنْكَرِ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6B2A7BD-9764-45D3-BD9D-38471233E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du hast das Unrecht verboten,</a:t>
            </a:r>
          </a:p>
        </p:txBody>
      </p:sp>
      <p:sp>
        <p:nvSpPr>
          <p:cNvPr id="16388" name="Subtitle 4">
            <a:extLst>
              <a:ext uri="{FF2B5EF4-FFF2-40B4-BE49-F238E27FC236}">
                <a16:creationId xmlns:a16="http://schemas.microsoft.com/office/drawing/2014/main" id="{5EBD3C97-75CD-4A6C-B04F-3BE0B9FCA8EF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nahayta `ani almunkari</a:t>
            </a:r>
          </a:p>
        </p:txBody>
      </p:sp>
      <p:sp>
        <p:nvSpPr>
          <p:cNvPr id="16389" name="Text Box 13">
            <a:extLst>
              <a:ext uri="{FF2B5EF4-FFF2-40B4-BE49-F238E27FC236}">
                <a16:creationId xmlns:a16="http://schemas.microsoft.com/office/drawing/2014/main" id="{13DF80A4-2FA8-4126-B598-25838518A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89D854-8260-4199-B107-B3987282B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وَتَلَوْتَ الْكِتَابَ حَقّ تِلاوَتِهِ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9D9DC92-2107-40DD-BC67-B8DFA9B7F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du hast das Buch (d.h. den Heiligen Qur'ān) genau so rezitiert, wie es rezitiert werden sollte,</a:t>
            </a:r>
          </a:p>
        </p:txBody>
      </p:sp>
      <p:sp>
        <p:nvSpPr>
          <p:cNvPr id="17412" name="Subtitle 4">
            <a:extLst>
              <a:ext uri="{FF2B5EF4-FFF2-40B4-BE49-F238E27FC236}">
                <a16:creationId xmlns:a16="http://schemas.microsoft.com/office/drawing/2014/main" id="{2BC90CE2-48DA-42B9-B477-2B3AE12C71D4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talawta alkitāba ḥaqq tilāwatihi</a:t>
            </a:r>
          </a:p>
        </p:txBody>
      </p:sp>
      <p:sp>
        <p:nvSpPr>
          <p:cNvPr id="17413" name="Text Box 13">
            <a:extLst>
              <a:ext uri="{FF2B5EF4-FFF2-40B4-BE49-F238E27FC236}">
                <a16:creationId xmlns:a16="http://schemas.microsoft.com/office/drawing/2014/main" id="{8B66FC18-9EA2-4B62-A513-0092C4C7E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09A696-273C-473D-A67E-F4A4269027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وَجَاهَدْتَ فِي اللّهِ حَقّ جِهَادِهِ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8A840EA-2CEF-4EBD-B285-03059E19D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du hast dich um Allahs willen bemüht, so wie es sich für ein Streben gehört,</a:t>
            </a:r>
          </a:p>
        </p:txBody>
      </p:sp>
      <p:sp>
        <p:nvSpPr>
          <p:cNvPr id="18436" name="Subtitle 4">
            <a:extLst>
              <a:ext uri="{FF2B5EF4-FFF2-40B4-BE49-F238E27FC236}">
                <a16:creationId xmlns:a16="http://schemas.microsoft.com/office/drawing/2014/main" id="{6EA11014-64B4-44AD-9681-B14EE45F2102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jāhadta fī allāhi ḥaqq jihādihi</a:t>
            </a:r>
          </a:p>
        </p:txBody>
      </p:sp>
      <p:sp>
        <p:nvSpPr>
          <p:cNvPr id="18437" name="Text Box 13">
            <a:extLst>
              <a:ext uri="{FF2B5EF4-FFF2-40B4-BE49-F238E27FC236}">
                <a16:creationId xmlns:a16="http://schemas.microsoft.com/office/drawing/2014/main" id="{A1586BF0-3116-43DB-AA2B-11BC7EFC1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CB7C32-210F-49B1-ABA9-0C91F5D2D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14400"/>
            <a:ext cx="89154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وَصَبَرْتَ عَلَى الأذَى فَي جَنْبِهِ مُحْتَسِباً حَتَّى أَتَاكَ الْيَقِينُ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37F246-36B3-4E29-ACC0-301D985C6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du hast um seinetwillen alle Mühen auf dich genommen und seinen Lohn </a:t>
            </a:r>
            <a:r>
              <a:rPr lang="en-US" sz="3600" b="1" kern="1200" dirty="0" err="1">
                <a:ea typeface="MS Mincho" pitchFamily="49" charset="-128"/>
              </a:rPr>
              <a:t>gesucht</a:t>
            </a:r>
            <a:r>
              <a:rPr lang="en-US" sz="3600" b="1" kern="1200" dirty="0">
                <a:ea typeface="MS Mincho" pitchFamily="49" charset="-128"/>
              </a:rPr>
              <a:t>, </a:t>
            </a:r>
            <a:r>
              <a:rPr lang="de-DE" sz="3600" b="1" kern="1200" dirty="0">
                <a:ea typeface="MS Mincho" pitchFamily="49" charset="-128"/>
              </a:rPr>
              <a:t>bis das sichere Los dich ereilte.</a:t>
            </a:r>
            <a:r>
              <a:rPr lang="en-US" sz="3600" b="1" kern="1200" dirty="0">
                <a:ea typeface="MS Mincho" pitchFamily="49" charset="-128"/>
              </a:rPr>
              <a:t> [bis der Tod über dich </a:t>
            </a:r>
            <a:r>
              <a:rPr lang="en-US" sz="3600" b="1" kern="1200" dirty="0" err="1">
                <a:ea typeface="MS Mincho" pitchFamily="49" charset="-128"/>
              </a:rPr>
              <a:t>kam</a:t>
            </a:r>
            <a:r>
              <a:rPr lang="en-US" sz="3600" b="1" kern="1200" dirty="0">
                <a:ea typeface="MS Mincho" pitchFamily="49" charset="-128"/>
              </a:rPr>
              <a:t>.]</a:t>
            </a:r>
          </a:p>
        </p:txBody>
      </p:sp>
      <p:sp>
        <p:nvSpPr>
          <p:cNvPr id="19460" name="Subtitle 4">
            <a:extLst>
              <a:ext uri="{FF2B5EF4-FFF2-40B4-BE49-F238E27FC236}">
                <a16:creationId xmlns:a16="http://schemas.microsoft.com/office/drawing/2014/main" id="{C1B102FF-8D82-4F42-A221-C360D9C4C868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ṣabarta `alā aladhā fī janbihi muḥtasiban ḥattā atāka aliyaqīnu</a:t>
            </a:r>
          </a:p>
        </p:txBody>
      </p:sp>
      <p:sp>
        <p:nvSpPr>
          <p:cNvPr id="19461" name="Text Box 13">
            <a:extLst>
              <a:ext uri="{FF2B5EF4-FFF2-40B4-BE49-F238E27FC236}">
                <a16:creationId xmlns:a16="http://schemas.microsoft.com/office/drawing/2014/main" id="{1FF534D3-743D-447E-8F60-060F17A5F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3FCCF7-BD7D-4337-9FBD-C53C9DD8C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أَشْهَدُ أَنّ الّذِينَ خَالَفُوكَ وَحَارَبُوكَ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2F03A8-58EA-4602-BF84-8BB3BB4AF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Ich bezeuge auch, dass diejenigen, die gegen euch waren, und diejenigen, die gegen euch gekämpft haben</a:t>
            </a:r>
          </a:p>
        </p:txBody>
      </p:sp>
      <p:sp>
        <p:nvSpPr>
          <p:cNvPr id="20484" name="Subtitle 4">
            <a:extLst>
              <a:ext uri="{FF2B5EF4-FFF2-40B4-BE49-F238E27FC236}">
                <a16:creationId xmlns:a16="http://schemas.microsoft.com/office/drawing/2014/main" id="{53735330-E433-4052-A7D2-5E2CDB4B39CB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ash-hadu ann alladhīna khālafūka wa ḥārabūka</a:t>
            </a:r>
          </a:p>
        </p:txBody>
      </p:sp>
      <p:sp>
        <p:nvSpPr>
          <p:cNvPr id="20485" name="Text Box 13">
            <a:extLst>
              <a:ext uri="{FF2B5EF4-FFF2-40B4-BE49-F238E27FC236}">
                <a16:creationId xmlns:a16="http://schemas.microsoft.com/office/drawing/2014/main" id="{D4D82AF8-D555-4124-B95E-69C6D0D3E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555280-3562-4775-9DAB-023B1116C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وَالّذِينَ خَذَلُوكَ وَالّذِينَ قَتَلُوكَ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F78A54B-9A9F-4629-B8E6-7B5BA1FC7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diejenigen, die dich im Stich gelassen haben, und diejenigen, die dich getötet haben</a:t>
            </a:r>
          </a:p>
        </p:txBody>
      </p:sp>
      <p:sp>
        <p:nvSpPr>
          <p:cNvPr id="21508" name="Subtitle 4">
            <a:extLst>
              <a:ext uri="{FF2B5EF4-FFF2-40B4-BE49-F238E27FC236}">
                <a16:creationId xmlns:a16="http://schemas.microsoft.com/office/drawing/2014/main" id="{BF539334-8B98-4FA9-A1FA-B05A87FEB42E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ann alladhīna khadhalūka walladhīna qatalūka</a:t>
            </a:r>
          </a:p>
        </p:txBody>
      </p:sp>
      <p:sp>
        <p:nvSpPr>
          <p:cNvPr id="21509" name="Text Box 13">
            <a:extLst>
              <a:ext uri="{FF2B5EF4-FFF2-40B4-BE49-F238E27FC236}">
                <a16:creationId xmlns:a16="http://schemas.microsoft.com/office/drawing/2014/main" id="{B449E3C4-FA97-4375-974F-43AE008F3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A05ADF-AB17-4A97-90AC-A0D4AC7DE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مَلْعُونُونَ عَلَى لِسَانِ النّبِيّ الأُمِيِّ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1ED244A-D054-45B1-A49D-7FF69E59E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Alle diese wurden direkt vom mekkanischen Propheten verflucht.</a:t>
            </a:r>
          </a:p>
        </p:txBody>
      </p:sp>
      <p:sp>
        <p:nvSpPr>
          <p:cNvPr id="22532" name="Subtitle 4">
            <a:extLst>
              <a:ext uri="{FF2B5EF4-FFF2-40B4-BE49-F238E27FC236}">
                <a16:creationId xmlns:a16="http://schemas.microsoft.com/office/drawing/2014/main" id="{EB38AAD5-C185-4838-93BB-A5DA33D67CD2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mal`ūnūna `alā lisāni alnnabiyy al-'ummiyy</a:t>
            </a:r>
          </a:p>
        </p:txBody>
      </p:sp>
      <p:sp>
        <p:nvSpPr>
          <p:cNvPr id="22533" name="Text Box 13">
            <a:extLst>
              <a:ext uri="{FF2B5EF4-FFF2-40B4-BE49-F238E27FC236}">
                <a16:creationId xmlns:a16="http://schemas.microsoft.com/office/drawing/2014/main" id="{5D8EEB25-BFA7-4DEF-8C4F-DCA67711B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AD8BE7-CE1C-4AD0-866F-76E70618A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وَقَدْ خَابَ مَنِ افْتَرَى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D45A1E-380C-4872-BFB7-368A7F8A4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derjenige, der Lügen fälscht, scheitert in der Tat bei der Erfüllung seines Wunsches.</a:t>
            </a:r>
          </a:p>
        </p:txBody>
      </p:sp>
      <p:sp>
        <p:nvSpPr>
          <p:cNvPr id="23556" name="Subtitle 4">
            <a:extLst>
              <a:ext uri="{FF2B5EF4-FFF2-40B4-BE49-F238E27FC236}">
                <a16:creationId xmlns:a16="http://schemas.microsoft.com/office/drawing/2014/main" id="{0DE190DC-8F95-420D-9321-B0DFCC41146B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qad khāba mani aftarā</a:t>
            </a:r>
          </a:p>
        </p:txBody>
      </p:sp>
      <p:sp>
        <p:nvSpPr>
          <p:cNvPr id="23557" name="Text Box 13">
            <a:extLst>
              <a:ext uri="{FF2B5EF4-FFF2-40B4-BE49-F238E27FC236}">
                <a16:creationId xmlns:a16="http://schemas.microsoft.com/office/drawing/2014/main" id="{34BE2D4D-CA0D-4F3E-97FE-071063418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43139E-9FD7-4E22-B9DD-4BB0F5B59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لَعَنَ اللّهُ الظَّالِمِينَ لَكُمْ مِنَ الأوَّلِينَ وَالآخِرِينَ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8630B5-406F-4248-BC1D-C6A5B9988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2743200"/>
            <a:ext cx="8763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Möge Allah den Segen von denen nehmen, die euch Unrecht getan haben, sowohl in der Vergangenheit als auch in der heutigen Generation.</a:t>
            </a:r>
          </a:p>
        </p:txBody>
      </p:sp>
      <p:sp>
        <p:nvSpPr>
          <p:cNvPr id="24580" name="Subtitle 4">
            <a:extLst>
              <a:ext uri="{FF2B5EF4-FFF2-40B4-BE49-F238E27FC236}">
                <a16:creationId xmlns:a16="http://schemas.microsoft.com/office/drawing/2014/main" id="{1DFC6650-ADD0-499B-AB5A-4BEB2DE5540F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la`ana allāhu alẓẓālimīna lakum mina al-awwalīna wal-ākhirīna</a:t>
            </a:r>
          </a:p>
        </p:txBody>
      </p:sp>
      <p:sp>
        <p:nvSpPr>
          <p:cNvPr id="24581" name="Text Box 13">
            <a:extLst>
              <a:ext uri="{FF2B5EF4-FFF2-40B4-BE49-F238E27FC236}">
                <a16:creationId xmlns:a16="http://schemas.microsoft.com/office/drawing/2014/main" id="{7285F36A-A30F-4D51-8D69-BEB37E25F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494630-1F18-40B7-977D-E9572A724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وَضَاعَفَ عَلَيْهِمُ الْعَذَابَ الألِيمَ.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8C61091-2DFD-41F2-B7A1-B9B018D4D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de-DE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und verdopple das Ausmaß Deines Fluches und die Strafe für sie</a:t>
            </a:r>
            <a:endParaRPr lang="en-US" sz="3600" b="1" kern="1200" dirty="0">
              <a:ea typeface="MS Mincho" pitchFamily="49" charset="-128"/>
            </a:endParaRPr>
          </a:p>
          <a:p>
            <a:pPr marL="342900" indent="-342900" eaLnBrk="1" hangingPunct="1">
              <a:defRPr/>
            </a:pPr>
            <a:r>
              <a:rPr lang="en-US" sz="3600" b="1" kern="1200" dirty="0" err="1">
                <a:ea typeface="MS Mincho" pitchFamily="49" charset="-128"/>
              </a:rPr>
              <a:t>Möge</a:t>
            </a:r>
            <a:r>
              <a:rPr lang="en-US" sz="3600" b="1" kern="1200" dirty="0">
                <a:ea typeface="MS Mincho" pitchFamily="49" charset="-128"/>
              </a:rPr>
              <a:t> Allah auch für sie die schmerzhafte Pein verdoppeln.</a:t>
            </a:r>
          </a:p>
        </p:txBody>
      </p:sp>
      <p:sp>
        <p:nvSpPr>
          <p:cNvPr id="25604" name="Subtitle 4">
            <a:extLst>
              <a:ext uri="{FF2B5EF4-FFF2-40B4-BE49-F238E27FC236}">
                <a16:creationId xmlns:a16="http://schemas.microsoft.com/office/drawing/2014/main" id="{4971A850-82ED-45E5-A9D0-E27D24A304F2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ḍā`afa `alayhimu al`adhāba al-alīma</a:t>
            </a:r>
          </a:p>
        </p:txBody>
      </p:sp>
      <p:sp>
        <p:nvSpPr>
          <p:cNvPr id="25605" name="Text Box 13">
            <a:extLst>
              <a:ext uri="{FF2B5EF4-FFF2-40B4-BE49-F238E27FC236}">
                <a16:creationId xmlns:a16="http://schemas.microsoft.com/office/drawing/2014/main" id="{97C869CD-FFD9-440B-BB76-68941EEA0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02D460-43E3-4968-89E0-611D0D7A9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تَوَجَّهْتُ نَحْوَ مَشْهَدِك يَا مَوْلايَ يَا بْنَ رَسُولِ اللّهِ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513B187-C937-4089-AF01-93FDC9BF2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Ich richte meine Aufmerksamkeit auf dich, o mein Herr, o Sohn des Gesandten Alláhs, </a:t>
            </a:r>
          </a:p>
        </p:txBody>
      </p:sp>
      <p:sp>
        <p:nvSpPr>
          <p:cNvPr id="26628" name="Subtitle 4">
            <a:extLst>
              <a:ext uri="{FF2B5EF4-FFF2-40B4-BE49-F238E27FC236}">
                <a16:creationId xmlns:a16="http://schemas.microsoft.com/office/drawing/2014/main" id="{BDB71E9E-2BA8-4D8F-B095-FE3572ADB4D1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tawahjahtu nahwa mashhadik yā mawlāiya yabna rasūli allāhi</a:t>
            </a:r>
          </a:p>
        </p:txBody>
      </p:sp>
      <p:sp>
        <p:nvSpPr>
          <p:cNvPr id="26629" name="Text Box 13">
            <a:extLst>
              <a:ext uri="{FF2B5EF4-FFF2-40B4-BE49-F238E27FC236}">
                <a16:creationId xmlns:a16="http://schemas.microsoft.com/office/drawing/2014/main" id="{AB2BFB60-F0B6-403E-87E5-510F6A432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E9C5D7-6F7A-45F0-B17B-C16F30E76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زَائِراً عَارِفاً بِحَقّكَ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5E73031-2CD9-49B6-BC04-09BB19B3C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Dich zu besuchen und das Ansehen, das du </a:t>
            </a:r>
            <a:r>
              <a:rPr lang="en-US" sz="3600" b="1" kern="1200" dirty="0" err="1">
                <a:ea typeface="MS Mincho" pitchFamily="49" charset="-128"/>
              </a:rPr>
              <a:t>genießt</a:t>
            </a:r>
            <a:r>
              <a:rPr lang="en-US" sz="3600" b="1" kern="1200" dirty="0">
                <a:ea typeface="MS Mincho" pitchFamily="49" charset="-128"/>
              </a:rPr>
              <a:t>, zu würdigen,</a:t>
            </a:r>
          </a:p>
        </p:txBody>
      </p:sp>
      <p:sp>
        <p:nvSpPr>
          <p:cNvPr id="27652" name="Subtitle 4">
            <a:extLst>
              <a:ext uri="{FF2B5EF4-FFF2-40B4-BE49-F238E27FC236}">
                <a16:creationId xmlns:a16="http://schemas.microsoft.com/office/drawing/2014/main" id="{5CCEC56A-9470-420F-A210-E4D747A946D3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zā'iran `ārifan biḥaqqka</a:t>
            </a:r>
          </a:p>
        </p:txBody>
      </p:sp>
      <p:sp>
        <p:nvSpPr>
          <p:cNvPr id="27653" name="Text Box 13">
            <a:extLst>
              <a:ext uri="{FF2B5EF4-FFF2-40B4-BE49-F238E27FC236}">
                <a16:creationId xmlns:a16="http://schemas.microsoft.com/office/drawing/2014/main" id="{2C612844-B2F9-46DB-BA4E-11B916130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C73DF0-B45B-4A6D-ABB9-D5C9386B6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مُوَالِياً لأَوْلِيَائِكَ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9D0092B-8372-41A0-B6AF-F57FF0702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ich erkläre meine Loyalität gegenüber denen, die </a:t>
            </a:r>
            <a:r>
              <a:rPr lang="en-US" sz="3600" b="1" kern="1200" dirty="0" err="1">
                <a:ea typeface="MS Mincho" pitchFamily="49" charset="-128"/>
              </a:rPr>
              <a:t>dir</a:t>
            </a:r>
            <a:r>
              <a:rPr lang="en-US" sz="3600" b="1" kern="1200" dirty="0">
                <a:ea typeface="MS Mincho" pitchFamily="49" charset="-128"/>
              </a:rPr>
              <a:t> gegenüber loyal sind,</a:t>
            </a:r>
          </a:p>
        </p:txBody>
      </p:sp>
      <p:sp>
        <p:nvSpPr>
          <p:cNvPr id="28676" name="Subtitle 4">
            <a:extLst>
              <a:ext uri="{FF2B5EF4-FFF2-40B4-BE49-F238E27FC236}">
                <a16:creationId xmlns:a16="http://schemas.microsoft.com/office/drawing/2014/main" id="{A8C453B7-095F-489C-BA4E-13C3B2E0D40D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muwāliyan li-awliyā'ika</a:t>
            </a:r>
          </a:p>
        </p:txBody>
      </p:sp>
      <p:sp>
        <p:nvSpPr>
          <p:cNvPr id="28677" name="Text Box 13">
            <a:extLst>
              <a:ext uri="{FF2B5EF4-FFF2-40B4-BE49-F238E27FC236}">
                <a16:creationId xmlns:a16="http://schemas.microsoft.com/office/drawing/2014/main" id="{9CC52AFC-B414-4989-8A7B-44E3A6215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5E8623-621D-42C6-A347-1D94D8F44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مُعَادِياً لأَعْدَائِكَ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CC2EC10-C937-43EA-853A-F8DC8279D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sich von </a:t>
            </a:r>
            <a:r>
              <a:rPr lang="en-US" sz="3600" b="1" kern="1200" dirty="0" err="1">
                <a:ea typeface="MS Mincho" pitchFamily="49" charset="-128"/>
              </a:rPr>
              <a:t>deinen</a:t>
            </a:r>
            <a:r>
              <a:rPr lang="en-US" sz="3600" b="1" kern="1200" dirty="0">
                <a:ea typeface="MS Mincho" pitchFamily="49" charset="-128"/>
              </a:rPr>
              <a:t> Feinden lossagen,</a:t>
            </a:r>
          </a:p>
        </p:txBody>
      </p:sp>
      <p:sp>
        <p:nvSpPr>
          <p:cNvPr id="29700" name="Subtitle 4">
            <a:extLst>
              <a:ext uri="{FF2B5EF4-FFF2-40B4-BE49-F238E27FC236}">
                <a16:creationId xmlns:a16="http://schemas.microsoft.com/office/drawing/2014/main" id="{28A3655C-C0C0-4679-9B2F-E9AAD01BE62C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mu`ādiyan li-a`dā'ika</a:t>
            </a:r>
          </a:p>
        </p:txBody>
      </p:sp>
      <p:sp>
        <p:nvSpPr>
          <p:cNvPr id="29701" name="Text Box 13">
            <a:extLst>
              <a:ext uri="{FF2B5EF4-FFF2-40B4-BE49-F238E27FC236}">
                <a16:creationId xmlns:a16="http://schemas.microsoft.com/office/drawing/2014/main" id="{040B5254-1D99-464E-89BF-270B071BF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308DFD-0D94-42F8-ACAF-F340C2485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مُسْتَبْصِراً بِالْهُدَى الّذِي أَنْتَ عَلَيْهِ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4DE1AF1-3C2D-46CB-A0A9-692283F92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versucht, der wahren Führung zu folgen, der du </a:t>
            </a:r>
            <a:r>
              <a:rPr lang="en-US" sz="3600" b="1" kern="1200" dirty="0" err="1">
                <a:ea typeface="MS Mincho" pitchFamily="49" charset="-128"/>
              </a:rPr>
              <a:t>folgst</a:t>
            </a:r>
            <a:r>
              <a:rPr lang="en-US" sz="3600" b="1" kern="1200" dirty="0">
                <a:ea typeface="MS Mincho" pitchFamily="49" charset="-128"/>
              </a:rPr>
              <a:t>,</a:t>
            </a:r>
          </a:p>
        </p:txBody>
      </p:sp>
      <p:sp>
        <p:nvSpPr>
          <p:cNvPr id="30724" name="Subtitle 4">
            <a:extLst>
              <a:ext uri="{FF2B5EF4-FFF2-40B4-BE49-F238E27FC236}">
                <a16:creationId xmlns:a16="http://schemas.microsoft.com/office/drawing/2014/main" id="{67D4BA46-479F-4E7F-B9C8-D5CBF86A6715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mustabṣiran bilhudā alladhy anta `alayhi</a:t>
            </a:r>
          </a:p>
        </p:txBody>
      </p:sp>
      <p:sp>
        <p:nvSpPr>
          <p:cNvPr id="30725" name="Text Box 13">
            <a:extLst>
              <a:ext uri="{FF2B5EF4-FFF2-40B4-BE49-F238E27FC236}">
                <a16:creationId xmlns:a16="http://schemas.microsoft.com/office/drawing/2014/main" id="{B75648E9-7A32-479E-8EF7-88AC3787B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9C8C61-D985-4DCE-996C-C116844B8D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عَارِفاً بِضَلالَةِ مَنْ خَالَفَكَ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5CAA2EF-86A9-494D-BC66-1475DB26C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das Erkennen der Abweichung derjenigen, die </a:t>
            </a:r>
            <a:r>
              <a:rPr lang="en-US" sz="3600" b="1" kern="1200" dirty="0" err="1">
                <a:ea typeface="MS Mincho" pitchFamily="49" charset="-128"/>
              </a:rPr>
              <a:t>sich</a:t>
            </a:r>
            <a:r>
              <a:rPr lang="en-US" sz="3600" b="1" kern="1200" dirty="0">
                <a:ea typeface="MS Mincho" pitchFamily="49" charset="-128"/>
              </a:rPr>
              <a:t> </a:t>
            </a:r>
            <a:r>
              <a:rPr lang="en-US" sz="3600" b="1" kern="1200" dirty="0" err="1">
                <a:ea typeface="MS Mincho" pitchFamily="49" charset="-128"/>
              </a:rPr>
              <a:t>dir</a:t>
            </a:r>
            <a:r>
              <a:rPr lang="en-US" sz="3600" b="1" kern="1200" dirty="0">
                <a:ea typeface="MS Mincho" pitchFamily="49" charset="-128"/>
              </a:rPr>
              <a:t> widersetzen;</a:t>
            </a:r>
          </a:p>
        </p:txBody>
      </p:sp>
      <p:sp>
        <p:nvSpPr>
          <p:cNvPr id="31748" name="Subtitle 4">
            <a:extLst>
              <a:ext uri="{FF2B5EF4-FFF2-40B4-BE49-F238E27FC236}">
                <a16:creationId xmlns:a16="http://schemas.microsoft.com/office/drawing/2014/main" id="{2C9C558D-5692-4829-87B8-1A6E649C0089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`ārifan biḍalālati man khālafaka</a:t>
            </a:r>
          </a:p>
        </p:txBody>
      </p:sp>
      <p:sp>
        <p:nvSpPr>
          <p:cNvPr id="31749" name="Text Box 13">
            <a:extLst>
              <a:ext uri="{FF2B5EF4-FFF2-40B4-BE49-F238E27FC236}">
                <a16:creationId xmlns:a16="http://schemas.microsoft.com/office/drawing/2014/main" id="{8C88D731-0CA4-4E8B-AD3D-A7D6B77E0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28A653-0087-433D-ADBD-92A2159E3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فَاشْفَعْ لِي عِنْدَ رَبّكَ.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3BA14A6-E4F5-4BDF-BBFF-FE2F2D7B6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Also, (bitte) lege Fürsprache für mich bei deinem Herrn ein.</a:t>
            </a:r>
          </a:p>
        </p:txBody>
      </p:sp>
      <p:sp>
        <p:nvSpPr>
          <p:cNvPr id="32772" name="Subtitle 4">
            <a:extLst>
              <a:ext uri="{FF2B5EF4-FFF2-40B4-BE49-F238E27FC236}">
                <a16:creationId xmlns:a16="http://schemas.microsoft.com/office/drawing/2014/main" id="{DFE7191A-5AEF-47FB-BD42-4B4887ACB2C9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fashfa` lī `inda rabbika</a:t>
            </a:r>
          </a:p>
        </p:txBody>
      </p:sp>
      <p:sp>
        <p:nvSpPr>
          <p:cNvPr id="32773" name="Text Box 13">
            <a:extLst>
              <a:ext uri="{FF2B5EF4-FFF2-40B4-BE49-F238E27FC236}">
                <a16:creationId xmlns:a16="http://schemas.microsoft.com/office/drawing/2014/main" id="{9AC06E24-586A-47D3-BADC-AEDA0D42B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3">
            <a:extLst>
              <a:ext uri="{FF2B5EF4-FFF2-40B4-BE49-F238E27FC236}">
                <a16:creationId xmlns:a16="http://schemas.microsoft.com/office/drawing/2014/main" id="{E64E2BCE-BD4A-452D-AC74-9D6A338E6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des Hazrat Alí Akbar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  <p:sp>
        <p:nvSpPr>
          <p:cNvPr id="36867" name="AutoShape 2">
            <a:extLst>
              <a:ext uri="{FF2B5EF4-FFF2-40B4-BE49-F238E27FC236}">
                <a16:creationId xmlns:a16="http://schemas.microsoft.com/office/drawing/2014/main" id="{5D5D93DF-7C0C-42E5-9F1C-5DE75953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90600"/>
            <a:ext cx="7851775" cy="4876800"/>
          </a:xfrm>
          <a:prstGeom prst="plaque">
            <a:avLst>
              <a:gd name="adj" fmla="val 16667"/>
            </a:avLst>
          </a:prstGeom>
          <a:gradFill rotWithShape="1">
            <a:gsLst>
              <a:gs pos="0">
                <a:srgbClr val="003399"/>
              </a:gs>
              <a:gs pos="50000">
                <a:srgbClr val="001847"/>
              </a:gs>
              <a:gs pos="100000">
                <a:srgbClr val="003399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7EB86A3-EEC6-4863-8FB0-A6ED2D10E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2057400"/>
            <a:ext cx="791845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5400" b="1">
                <a:solidFill>
                  <a:srgbClr val="FFFF00"/>
                </a:solidFill>
                <a:latin typeface="Century Gothic" panose="020B0502020202020204" pitchFamily="34" charset="0"/>
                <a:cs typeface="Traditional Arabic" panose="02020603050405020304" pitchFamily="18" charset="-78"/>
              </a:rPr>
              <a:t>Ziyárah von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5400" b="1">
                <a:solidFill>
                  <a:srgbClr val="FFFF00"/>
                </a:solidFill>
                <a:latin typeface="Century Gothic" panose="020B0502020202020204" pitchFamily="34" charset="0"/>
                <a:cs typeface="Traditional Arabic" panose="02020603050405020304" pitchFamily="18" charset="-78"/>
              </a:rPr>
              <a:t>Hazrat Alí Akbar (a.s.) für die Nacht des Qadr </a:t>
            </a:r>
            <a:endParaRPr lang="en-US" altLang="en-US" sz="5400" b="1">
              <a:solidFill>
                <a:srgbClr val="FFFF00"/>
              </a:solidFill>
              <a:latin typeface="Century Gothic" panose="020B0502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DE17EC-6E07-4653-A80B-8993FC7ED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السّلامُ عَلَيْكَ يَا مَوْلايَ وَابْنَ مَوْلايَ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0D414E9-1878-4FC7-A2B5-0C2710063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Friede sei mit dir, o mein Herr und Sohn meines Herrn</a:t>
            </a:r>
          </a:p>
        </p:txBody>
      </p:sp>
      <p:sp>
        <p:nvSpPr>
          <p:cNvPr id="37892" name="Subtitle 4">
            <a:extLst>
              <a:ext uri="{FF2B5EF4-FFF2-40B4-BE49-F238E27FC236}">
                <a16:creationId xmlns:a16="http://schemas.microsoft.com/office/drawing/2014/main" id="{BDBB775C-5031-4181-8C8D-6F9D470C40B2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alssalāmu `alayka yā mawlāya wabna mawlāya</a:t>
            </a:r>
          </a:p>
        </p:txBody>
      </p:sp>
      <p:sp>
        <p:nvSpPr>
          <p:cNvPr id="37893" name="Text Box 13">
            <a:extLst>
              <a:ext uri="{FF2B5EF4-FFF2-40B4-BE49-F238E27FC236}">
                <a16:creationId xmlns:a16="http://schemas.microsoft.com/office/drawing/2014/main" id="{53829E1B-BAE9-4ACE-A7F8-62F94A7CC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des Hazrat Alí Akbar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B17DA2-F566-4514-B29C-C04FB0F3F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وَرَحْمَةُ اللّهِ وَبَرَكَاتُهُ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F83A9A-F2E3-42D3-B9E6-FC7C5CA9F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So sei Allahs Barmherzigkeit und Segen über euch.</a:t>
            </a:r>
          </a:p>
        </p:txBody>
      </p:sp>
      <p:sp>
        <p:nvSpPr>
          <p:cNvPr id="38916" name="Subtitle 4">
            <a:extLst>
              <a:ext uri="{FF2B5EF4-FFF2-40B4-BE49-F238E27FC236}">
                <a16:creationId xmlns:a16="http://schemas.microsoft.com/office/drawing/2014/main" id="{BDD8CE03-C578-4FB0-AB4E-27DD0D42DE4E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raḥmatu allāhi wa barakātuhu</a:t>
            </a:r>
          </a:p>
        </p:txBody>
      </p:sp>
      <p:sp>
        <p:nvSpPr>
          <p:cNvPr id="38917" name="Text Box 13">
            <a:extLst>
              <a:ext uri="{FF2B5EF4-FFF2-40B4-BE49-F238E27FC236}">
                <a16:creationId xmlns:a16="http://schemas.microsoft.com/office/drawing/2014/main" id="{98C4C141-CAFF-437C-BFBC-6AC03BE3F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des Hazrat Alí Akbar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EE503D-E0BF-4C54-ACDA-B78BE5D8C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لَعَنَ اللّهُ مَنْ ظَلَمَكَ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0B70F58-8DC6-4C73-B8DE-1D041EA41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Möge Allah die Segnungen von denen nehmen, die dir Unrecht getan haben.</a:t>
            </a:r>
          </a:p>
        </p:txBody>
      </p:sp>
      <p:sp>
        <p:nvSpPr>
          <p:cNvPr id="39940" name="Subtitle 4">
            <a:extLst>
              <a:ext uri="{FF2B5EF4-FFF2-40B4-BE49-F238E27FC236}">
                <a16:creationId xmlns:a16="http://schemas.microsoft.com/office/drawing/2014/main" id="{FFD1C509-A92D-41E3-9116-3CAFB829B692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la`ana allāhu man ẓalamaka</a:t>
            </a:r>
          </a:p>
        </p:txBody>
      </p:sp>
      <p:sp>
        <p:nvSpPr>
          <p:cNvPr id="39941" name="Text Box 13">
            <a:extLst>
              <a:ext uri="{FF2B5EF4-FFF2-40B4-BE49-F238E27FC236}">
                <a16:creationId xmlns:a16="http://schemas.microsoft.com/office/drawing/2014/main" id="{B1E9A6B9-637A-4390-8449-0B78BBEDE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des Hazrat Alí Akbar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AD868A-ED0D-4D9C-BBAE-079EEDAF8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وَلَعَنَ اللّهُ مَنْ قَتَلَكَ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17CF182-78CA-41F4-9224-F0197C7DA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Möge Allah die Segnungen von denen nehmen, die dich getötet haben.</a:t>
            </a:r>
          </a:p>
        </p:txBody>
      </p:sp>
      <p:sp>
        <p:nvSpPr>
          <p:cNvPr id="40964" name="Subtitle 4">
            <a:extLst>
              <a:ext uri="{FF2B5EF4-FFF2-40B4-BE49-F238E27FC236}">
                <a16:creationId xmlns:a16="http://schemas.microsoft.com/office/drawing/2014/main" id="{11833978-3C6D-4932-9E86-F53F7F1A8067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la`ana allāhu man qatalaka</a:t>
            </a:r>
          </a:p>
        </p:txBody>
      </p:sp>
      <p:sp>
        <p:nvSpPr>
          <p:cNvPr id="40965" name="Text Box 13">
            <a:extLst>
              <a:ext uri="{FF2B5EF4-FFF2-40B4-BE49-F238E27FC236}">
                <a16:creationId xmlns:a16="http://schemas.microsoft.com/office/drawing/2014/main" id="{07423240-7026-499A-98DE-E06004CA5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des Hazrat Alí Akbar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EEC3A8-9764-4E9E-AEDE-687273FD3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وَضَاعَفَ عَلَيْهِمُ الْعَذَابَ الألِيمَ.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FF5409-A168-4898-B4CD-BC86C2603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Möge Allah die schmerzhafte Pein für sie verdoppeln.</a:t>
            </a:r>
          </a:p>
        </p:txBody>
      </p:sp>
      <p:sp>
        <p:nvSpPr>
          <p:cNvPr id="41988" name="Subtitle 4">
            <a:extLst>
              <a:ext uri="{FF2B5EF4-FFF2-40B4-BE49-F238E27FC236}">
                <a16:creationId xmlns:a16="http://schemas.microsoft.com/office/drawing/2014/main" id="{C086D2F8-408C-4CBC-9D5B-CBE037064C43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ḍā`afa `alayhimu al`adhāba al-alīma</a:t>
            </a:r>
          </a:p>
        </p:txBody>
      </p:sp>
      <p:sp>
        <p:nvSpPr>
          <p:cNvPr id="41989" name="Text Box 13">
            <a:extLst>
              <a:ext uri="{FF2B5EF4-FFF2-40B4-BE49-F238E27FC236}">
                <a16:creationId xmlns:a16="http://schemas.microsoft.com/office/drawing/2014/main" id="{AA91BBC0-0368-4DF9-8E5C-0AFBB435B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des Hazrat Alí Akbar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3">
            <a:extLst>
              <a:ext uri="{FF2B5EF4-FFF2-40B4-BE49-F238E27FC236}">
                <a16:creationId xmlns:a16="http://schemas.microsoft.com/office/drawing/2014/main" id="{CD5241E6-593C-473A-8B71-6CC34D31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der anderen Shuhadá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  <p:sp>
        <p:nvSpPr>
          <p:cNvPr id="43011" name="AutoShape 2">
            <a:extLst>
              <a:ext uri="{FF2B5EF4-FFF2-40B4-BE49-F238E27FC236}">
                <a16:creationId xmlns:a16="http://schemas.microsoft.com/office/drawing/2014/main" id="{A22DB2D0-9661-47AB-9424-1FAA1ADA2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90600"/>
            <a:ext cx="7851775" cy="4876800"/>
          </a:xfrm>
          <a:prstGeom prst="plaque">
            <a:avLst>
              <a:gd name="adj" fmla="val 16667"/>
            </a:avLst>
          </a:prstGeom>
          <a:gradFill rotWithShape="1">
            <a:gsLst>
              <a:gs pos="0">
                <a:srgbClr val="003399"/>
              </a:gs>
              <a:gs pos="50000">
                <a:srgbClr val="001847"/>
              </a:gs>
              <a:gs pos="100000">
                <a:srgbClr val="003399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C933B50-FC69-44BC-9313-956729BCE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2057400"/>
            <a:ext cx="791845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5400" b="1">
                <a:solidFill>
                  <a:srgbClr val="FFFF00"/>
                </a:solidFill>
                <a:latin typeface="Century Gothic" panose="020B0502020202020204" pitchFamily="34" charset="0"/>
                <a:cs typeface="Traditional Arabic" panose="02020603050405020304" pitchFamily="18" charset="-78"/>
              </a:rPr>
              <a:t>Ziyárah von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5400" b="1">
                <a:solidFill>
                  <a:srgbClr val="FFFF00"/>
                </a:solidFill>
                <a:latin typeface="Century Gothic" panose="020B0502020202020204" pitchFamily="34" charset="0"/>
                <a:cs typeface="Traditional Arabic" panose="02020603050405020304" pitchFamily="18" charset="-78"/>
              </a:rPr>
              <a:t>andere Shuhadá (a.s.) für die Nacht des Qadr </a:t>
            </a:r>
            <a:endParaRPr lang="en-US" altLang="en-US" sz="5400" b="1">
              <a:solidFill>
                <a:srgbClr val="FFFF00"/>
              </a:solidFill>
              <a:latin typeface="Century Gothic" panose="020B0502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2C2004-5CC0-42C3-8C53-D2639AA6A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14400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السّلامُ عَلَيْكُمْ أَيّهَا الصّدِيقُونَ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26C03F9-42CF-4CD8-AC32-51BC3552D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Friede sei mit euch, o ihr Wahrhaftigen.</a:t>
            </a:r>
          </a:p>
        </p:txBody>
      </p:sp>
      <p:sp>
        <p:nvSpPr>
          <p:cNvPr id="44036" name="Subtitle 4">
            <a:extLst>
              <a:ext uri="{FF2B5EF4-FFF2-40B4-BE49-F238E27FC236}">
                <a16:creationId xmlns:a16="http://schemas.microsoft.com/office/drawing/2014/main" id="{7A727044-B32E-4495-ACF1-10B88CB3EF12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`alayhi alssalāmu `alaykum ayyuhā alṣṣiddīqūna</a:t>
            </a:r>
          </a:p>
        </p:txBody>
      </p:sp>
      <p:sp>
        <p:nvSpPr>
          <p:cNvPr id="44037" name="Text Box 13">
            <a:extLst>
              <a:ext uri="{FF2B5EF4-FFF2-40B4-BE49-F238E27FC236}">
                <a16:creationId xmlns:a16="http://schemas.microsoft.com/office/drawing/2014/main" id="{3974AF85-E0B6-4FBC-8F1D-896F102A7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der anderen Shuhadá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8E156A-4ADE-442F-AED7-0D32614FA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14400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السّلامُ عَلَيْكُمْ أَيّهَا الشّهَدَاءُ الصَّابِرُونَ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7897549-2B82-4153-8ADD-CCC63B947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Friede sei mit euch, o ihr standhaften Märtyrer.</a:t>
            </a:r>
          </a:p>
        </p:txBody>
      </p:sp>
      <p:sp>
        <p:nvSpPr>
          <p:cNvPr id="45060" name="Subtitle 4">
            <a:extLst>
              <a:ext uri="{FF2B5EF4-FFF2-40B4-BE49-F238E27FC236}">
                <a16:creationId xmlns:a16="http://schemas.microsoft.com/office/drawing/2014/main" id="{A9CFD94C-EAB6-4301-A7AF-432851AD2758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alssalāmu `alaykum ayyuhā alshshuhadā'u alṣṣābirūna</a:t>
            </a:r>
          </a:p>
        </p:txBody>
      </p:sp>
      <p:sp>
        <p:nvSpPr>
          <p:cNvPr id="45061" name="Text Box 13">
            <a:extLst>
              <a:ext uri="{FF2B5EF4-FFF2-40B4-BE49-F238E27FC236}">
                <a16:creationId xmlns:a16="http://schemas.microsoft.com/office/drawing/2014/main" id="{A77FBF07-1372-4D41-8E9E-EC12F8A0A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der anderen Shuhadá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38A905-B832-48BF-AFB5-748901827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14400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أَشْهَدُ أَنّكُمْ جَاهَدْتُمْ فِي سَبِيلِ اللّهِ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BABEA1-AB53-4D87-A8F9-ABA45A7D9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Ich bezeuge, </a:t>
            </a:r>
            <a:r>
              <a:rPr lang="en-US" sz="3600" b="1" kern="1200" dirty="0" err="1">
                <a:ea typeface="MS Mincho" pitchFamily="49" charset="-128"/>
              </a:rPr>
              <a:t>dass</a:t>
            </a:r>
            <a:r>
              <a:rPr lang="en-US" sz="3600" b="1" kern="1200" dirty="0">
                <a:ea typeface="MS Mincho" pitchFamily="49" charset="-128"/>
              </a:rPr>
              <a:t> </a:t>
            </a:r>
            <a:r>
              <a:rPr lang="en-US" sz="3600" b="1" kern="1200" dirty="0" err="1">
                <a:ea typeface="MS Mincho" pitchFamily="49" charset="-128"/>
              </a:rPr>
              <a:t>ihr</a:t>
            </a:r>
            <a:r>
              <a:rPr lang="en-US" sz="3600" b="1" kern="1200" dirty="0">
                <a:ea typeface="MS Mincho" pitchFamily="49" charset="-128"/>
              </a:rPr>
              <a:t> </a:t>
            </a:r>
            <a:r>
              <a:rPr lang="en-US" sz="3600" b="1" kern="1200" dirty="0" err="1">
                <a:ea typeface="MS Mincho" pitchFamily="49" charset="-128"/>
              </a:rPr>
              <a:t>euch</a:t>
            </a:r>
            <a:r>
              <a:rPr lang="en-US" sz="3600" b="1" kern="1200" dirty="0">
                <a:ea typeface="MS Mincho" pitchFamily="49" charset="-128"/>
              </a:rPr>
              <a:t> auf Allahs Weg </a:t>
            </a:r>
            <a:r>
              <a:rPr lang="en-US" sz="3600" b="1" kern="1200" dirty="0" err="1">
                <a:ea typeface="MS Mincho" pitchFamily="49" charset="-128"/>
              </a:rPr>
              <a:t>bemüht</a:t>
            </a:r>
            <a:r>
              <a:rPr lang="en-US" sz="3600" b="1" kern="1200" dirty="0">
                <a:ea typeface="MS Mincho" pitchFamily="49" charset="-128"/>
              </a:rPr>
              <a:t> </a:t>
            </a:r>
            <a:r>
              <a:rPr lang="en-US" sz="3600" b="1" kern="1200" dirty="0" err="1">
                <a:ea typeface="MS Mincho" pitchFamily="49" charset="-128"/>
              </a:rPr>
              <a:t>habt</a:t>
            </a:r>
            <a:r>
              <a:rPr lang="en-US" sz="3600" b="1" kern="1200" dirty="0">
                <a:ea typeface="MS Mincho" pitchFamily="49" charset="-128"/>
              </a:rPr>
              <a:t>,</a:t>
            </a:r>
          </a:p>
        </p:txBody>
      </p:sp>
      <p:sp>
        <p:nvSpPr>
          <p:cNvPr id="46084" name="Subtitle 4">
            <a:extLst>
              <a:ext uri="{FF2B5EF4-FFF2-40B4-BE49-F238E27FC236}">
                <a16:creationId xmlns:a16="http://schemas.microsoft.com/office/drawing/2014/main" id="{F6DF9826-A919-4696-A919-E3A2B483FFE5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ash-hadu annakum jāhadtum fī sabīli allāhi</a:t>
            </a:r>
          </a:p>
        </p:txBody>
      </p:sp>
      <p:sp>
        <p:nvSpPr>
          <p:cNvPr id="46085" name="Text Box 13">
            <a:extLst>
              <a:ext uri="{FF2B5EF4-FFF2-40B4-BE49-F238E27FC236}">
                <a16:creationId xmlns:a16="http://schemas.microsoft.com/office/drawing/2014/main" id="{B999F0A4-7AA2-48F5-AA63-064218199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der anderen Shuhadá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F384B8-DCB1-4F0F-A87F-10FF63B5F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14400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وَصَبَرْتُمْ عَلَى الأذَى فِي جَنْبِ اللّهِ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503E71B-7067-424E-91D5-D97B0C289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</a:t>
            </a:r>
            <a:r>
              <a:rPr lang="en-US" sz="3600" b="1" kern="1200" dirty="0" err="1">
                <a:ea typeface="MS Mincho" pitchFamily="49" charset="-128"/>
              </a:rPr>
              <a:t>ihr</a:t>
            </a:r>
            <a:r>
              <a:rPr lang="en-US" sz="3600" b="1" kern="1200" dirty="0">
                <a:ea typeface="MS Mincho" pitchFamily="49" charset="-128"/>
              </a:rPr>
              <a:t> </a:t>
            </a:r>
            <a:r>
              <a:rPr lang="en-US" sz="3600" b="1" kern="1200" dirty="0" err="1">
                <a:ea typeface="MS Mincho" pitchFamily="49" charset="-128"/>
              </a:rPr>
              <a:t>habt</a:t>
            </a:r>
            <a:r>
              <a:rPr lang="en-US" sz="3600" b="1" kern="1200" dirty="0">
                <a:ea typeface="MS Mincho" pitchFamily="49" charset="-128"/>
              </a:rPr>
              <a:t> geduldig gegen das Unheil um Allahs willen gehandelt,</a:t>
            </a:r>
          </a:p>
        </p:txBody>
      </p:sp>
      <p:sp>
        <p:nvSpPr>
          <p:cNvPr id="47108" name="Subtitle 4">
            <a:extLst>
              <a:ext uri="{FF2B5EF4-FFF2-40B4-BE49-F238E27FC236}">
                <a16:creationId xmlns:a16="http://schemas.microsoft.com/office/drawing/2014/main" id="{AB667D47-CC4B-4766-B345-3E07B37B1369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ṣabartum `alā aladhā fī janbi allāhi</a:t>
            </a:r>
          </a:p>
        </p:txBody>
      </p:sp>
      <p:sp>
        <p:nvSpPr>
          <p:cNvPr id="47109" name="Text Box 13">
            <a:extLst>
              <a:ext uri="{FF2B5EF4-FFF2-40B4-BE49-F238E27FC236}">
                <a16:creationId xmlns:a16="http://schemas.microsoft.com/office/drawing/2014/main" id="{A64CD722-6684-4541-916C-E859800A4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der anderen Shuhadá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1B539D-2398-4841-A7B9-8785A1069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68375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وَنَصَحْتُمْ لِلّهِ وَلِرَسُولِهِ حَتَّى أَتَاكُمُ الْيَقِينُ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8701A6E-7FEC-44DC-A133-0CB8777BA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ihr habt aufrichtig um Allahs und Seines Gesandten willen </a:t>
            </a:r>
            <a:r>
              <a:rPr lang="en-US" sz="3600" b="1" kern="1200" dirty="0" err="1">
                <a:ea typeface="MS Mincho" pitchFamily="49" charset="-128"/>
              </a:rPr>
              <a:t>gehandelt</a:t>
            </a:r>
            <a:r>
              <a:rPr lang="en-US" sz="3600" b="1" kern="1200" dirty="0">
                <a:ea typeface="MS Mincho" pitchFamily="49" charset="-128"/>
              </a:rPr>
              <a:t>, </a:t>
            </a:r>
            <a:r>
              <a:rPr lang="de-DE" sz="3600" b="1" kern="1200" dirty="0">
                <a:ea typeface="MS Mincho" pitchFamily="49" charset="-128"/>
              </a:rPr>
              <a:t>bis das sichere Los euch ereilte.</a:t>
            </a:r>
            <a:r>
              <a:rPr lang="en-US" sz="3600" b="1" kern="1200" dirty="0">
                <a:ea typeface="MS Mincho" pitchFamily="49" charset="-128"/>
              </a:rPr>
              <a:t> [bis der Tod über </a:t>
            </a:r>
            <a:r>
              <a:rPr lang="en-US" sz="3600" b="1" kern="1200" dirty="0" err="1">
                <a:ea typeface="MS Mincho" pitchFamily="49" charset="-128"/>
              </a:rPr>
              <a:t>euch</a:t>
            </a:r>
            <a:r>
              <a:rPr lang="en-US" sz="3600" b="1" kern="1200" dirty="0">
                <a:ea typeface="MS Mincho" pitchFamily="49" charset="-128"/>
              </a:rPr>
              <a:t> </a:t>
            </a:r>
            <a:r>
              <a:rPr lang="en-US" sz="3600" b="1" kern="1200" dirty="0" err="1">
                <a:ea typeface="MS Mincho" pitchFamily="49" charset="-128"/>
              </a:rPr>
              <a:t>kam</a:t>
            </a:r>
            <a:r>
              <a:rPr lang="en-US" sz="3600" b="1" kern="1200" dirty="0">
                <a:ea typeface="MS Mincho" pitchFamily="49" charset="-128"/>
              </a:rPr>
              <a:t>].</a:t>
            </a:r>
          </a:p>
        </p:txBody>
      </p:sp>
      <p:sp>
        <p:nvSpPr>
          <p:cNvPr id="48132" name="Subtitle 4">
            <a:extLst>
              <a:ext uri="{FF2B5EF4-FFF2-40B4-BE49-F238E27FC236}">
                <a16:creationId xmlns:a16="http://schemas.microsoft.com/office/drawing/2014/main" id="{BBADEDDA-9F43-4BA9-8070-E3347DA46D7F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naṣaḥtum lillāhi wa lirasūlihi ḥattā atākumu aliyaqīnu</a:t>
            </a:r>
          </a:p>
        </p:txBody>
      </p:sp>
      <p:sp>
        <p:nvSpPr>
          <p:cNvPr id="48133" name="Text Box 13">
            <a:extLst>
              <a:ext uri="{FF2B5EF4-FFF2-40B4-BE49-F238E27FC236}">
                <a16:creationId xmlns:a16="http://schemas.microsoft.com/office/drawing/2014/main" id="{96708A52-D729-4CA6-BD2D-42014D003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der anderen Shuhadá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FAFCB9-6378-417D-9903-A3DECDE3B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14400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أَشْهَدُ أَنّكُمْ أَحْيَاءٌ عِنْدَ رَبّكُمْ تُرْزَقُونَ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DCD4455-66E7-43A6-9ABB-22706F707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Ich bezeuge, dass ihr am Leben seid und von eurem Herrn versorgt werdet.</a:t>
            </a:r>
          </a:p>
        </p:txBody>
      </p:sp>
      <p:sp>
        <p:nvSpPr>
          <p:cNvPr id="49156" name="Subtitle 4">
            <a:extLst>
              <a:ext uri="{FF2B5EF4-FFF2-40B4-BE49-F238E27FC236}">
                <a16:creationId xmlns:a16="http://schemas.microsoft.com/office/drawing/2014/main" id="{A4CA6C8B-F846-4BC2-AB5D-A557B712ECF7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ah-hadu annakum aḥyā'un `inda rabbkum turzaqūna</a:t>
            </a:r>
          </a:p>
        </p:txBody>
      </p:sp>
      <p:sp>
        <p:nvSpPr>
          <p:cNvPr id="49157" name="Text Box 13">
            <a:extLst>
              <a:ext uri="{FF2B5EF4-FFF2-40B4-BE49-F238E27FC236}">
                <a16:creationId xmlns:a16="http://schemas.microsoft.com/office/drawing/2014/main" id="{AA5D0AF3-911D-4D7B-958F-7B48D9C7C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der anderen Shuhadá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AA622A-B17B-4C42-8313-4746A6B52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14400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فَجَزَاكُمُ اللّهُ عَنِ الإسْلامِ وَأَهْلِهِ أَفْضَلَ جَزَاءِ الْمُحْسِنِينَ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D783306-6884-4627-A4E0-2EE7D03C0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Möge Allah </a:t>
            </a:r>
            <a:r>
              <a:rPr lang="en-US" sz="3600" b="1" kern="1200" dirty="0" err="1">
                <a:ea typeface="MS Mincho" pitchFamily="49" charset="-128"/>
              </a:rPr>
              <a:t>euch</a:t>
            </a:r>
            <a:r>
              <a:rPr lang="en-US" sz="3600" b="1" kern="1200" dirty="0">
                <a:ea typeface="MS Mincho" pitchFamily="49" charset="-128"/>
              </a:rPr>
              <a:t> mit dem besten Lohn derer belohnen, die Gutes für den Islam und sein Volk tun,</a:t>
            </a:r>
          </a:p>
        </p:txBody>
      </p:sp>
      <p:sp>
        <p:nvSpPr>
          <p:cNvPr id="50180" name="Subtitle 4">
            <a:extLst>
              <a:ext uri="{FF2B5EF4-FFF2-40B4-BE49-F238E27FC236}">
                <a16:creationId xmlns:a16="http://schemas.microsoft.com/office/drawing/2014/main" id="{111C98C5-E94C-46B3-82B1-C4083A834876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fajazākumu allāhu `anilislāmi wa ahlihi afḍala jazā'i almuḥsinīna</a:t>
            </a:r>
          </a:p>
        </p:txBody>
      </p:sp>
      <p:sp>
        <p:nvSpPr>
          <p:cNvPr id="50181" name="Text Box 13">
            <a:extLst>
              <a:ext uri="{FF2B5EF4-FFF2-40B4-BE49-F238E27FC236}">
                <a16:creationId xmlns:a16="http://schemas.microsoft.com/office/drawing/2014/main" id="{E390C54F-6194-4A0F-B278-5CBD0C470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der anderen Shuhadá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59D763-C157-42C6-B5F8-FCC1B5712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14400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وَجَمَعَ بَيْنَنَا وَبَيْنَكُمْ فِي مَحَلّ النّعِيمِ.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DAB2736-A262-45C7-928F-8940F615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möge Er uns </a:t>
            </a:r>
            <a:r>
              <a:rPr lang="en-US" sz="3600" b="1" kern="1200" dirty="0" err="1">
                <a:ea typeface="MS Mincho" pitchFamily="49" charset="-128"/>
              </a:rPr>
              <a:t>mit</a:t>
            </a:r>
            <a:r>
              <a:rPr lang="en-US" sz="3600" b="1" kern="1200" dirty="0">
                <a:ea typeface="MS Mincho" pitchFamily="49" charset="-128"/>
              </a:rPr>
              <a:t> </a:t>
            </a:r>
            <a:r>
              <a:rPr lang="en-US" sz="3600" b="1" kern="1200" dirty="0" err="1">
                <a:ea typeface="MS Mincho" pitchFamily="49" charset="-128"/>
              </a:rPr>
              <a:t>euch</a:t>
            </a:r>
            <a:r>
              <a:rPr lang="en-US" sz="3600" b="1" kern="1200" dirty="0">
                <a:ea typeface="MS Mincho" pitchFamily="49" charset="-128"/>
              </a:rPr>
              <a:t> in der Wohnstätte der Glückseligkeit vereinen.</a:t>
            </a:r>
          </a:p>
        </p:txBody>
      </p:sp>
      <p:sp>
        <p:nvSpPr>
          <p:cNvPr id="51204" name="Subtitle 4">
            <a:extLst>
              <a:ext uri="{FF2B5EF4-FFF2-40B4-BE49-F238E27FC236}">
                <a16:creationId xmlns:a16="http://schemas.microsoft.com/office/drawing/2014/main" id="{A0026D8C-A662-4D70-9A31-932D881396F8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jama`a baynanā wa baynakum fī maḥall alnna`īmi</a:t>
            </a:r>
          </a:p>
        </p:txBody>
      </p:sp>
      <p:sp>
        <p:nvSpPr>
          <p:cNvPr id="51205" name="Text Box 13">
            <a:extLst>
              <a:ext uri="{FF2B5EF4-FFF2-40B4-BE49-F238E27FC236}">
                <a16:creationId xmlns:a16="http://schemas.microsoft.com/office/drawing/2014/main" id="{01821434-B982-4CB2-85E2-6156E8D6D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der anderen Shuhadá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3">
            <a:extLst>
              <a:ext uri="{FF2B5EF4-FFF2-40B4-BE49-F238E27FC236}">
                <a16:creationId xmlns:a16="http://schemas.microsoft.com/office/drawing/2014/main" id="{603BD6E9-0BEC-4291-B0DB-7D2176D90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Hazrat Abbás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  <p:sp>
        <p:nvSpPr>
          <p:cNvPr id="52227" name="AutoShape 2">
            <a:extLst>
              <a:ext uri="{FF2B5EF4-FFF2-40B4-BE49-F238E27FC236}">
                <a16:creationId xmlns:a16="http://schemas.microsoft.com/office/drawing/2014/main" id="{1B53CABF-DCF4-46FD-94D4-21173B176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990600"/>
            <a:ext cx="7851775" cy="4876800"/>
          </a:xfrm>
          <a:prstGeom prst="plaque">
            <a:avLst>
              <a:gd name="adj" fmla="val 16667"/>
            </a:avLst>
          </a:prstGeom>
          <a:gradFill rotWithShape="1">
            <a:gsLst>
              <a:gs pos="0">
                <a:srgbClr val="003399"/>
              </a:gs>
              <a:gs pos="50000">
                <a:srgbClr val="001847"/>
              </a:gs>
              <a:gs pos="100000">
                <a:srgbClr val="003399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EA115DFC-2281-496D-A583-CC208D41B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13" y="2057400"/>
            <a:ext cx="791845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5400" b="1">
                <a:solidFill>
                  <a:srgbClr val="FFFF00"/>
                </a:solidFill>
                <a:latin typeface="Century Gothic" panose="020B0502020202020204" pitchFamily="34" charset="0"/>
                <a:cs typeface="Traditional Arabic" panose="02020603050405020304" pitchFamily="18" charset="-78"/>
              </a:rPr>
              <a:t>Ziyárah von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5400" b="1">
                <a:solidFill>
                  <a:srgbClr val="FFFF00"/>
                </a:solidFill>
                <a:latin typeface="Century Gothic" panose="020B0502020202020204" pitchFamily="34" charset="0"/>
                <a:cs typeface="Traditional Arabic" panose="02020603050405020304" pitchFamily="18" charset="-78"/>
              </a:rPr>
              <a:t>Hazrat Abbás (a.s.) für die Nacht des Qadr </a:t>
            </a:r>
            <a:endParaRPr lang="en-US" altLang="en-US" sz="5400" b="1">
              <a:solidFill>
                <a:srgbClr val="FFFF00"/>
              </a:solidFill>
              <a:latin typeface="Century Gothic" panose="020B0502020202020204" pitchFamily="34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FB8AE0-CD3C-4B41-8B6F-15705F713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68375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السّلامُ عَلَيْكَ يَا بْنَ أَمِيرِ الْمُؤْمِنِينَ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0827247-138C-4F18-AA77-EF8CF1893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Friede sei mit dir, o Sohn des Befehlshabers der Gläubigen.</a:t>
            </a:r>
          </a:p>
        </p:txBody>
      </p:sp>
      <p:sp>
        <p:nvSpPr>
          <p:cNvPr id="53252" name="Subtitle 4">
            <a:extLst>
              <a:ext uri="{FF2B5EF4-FFF2-40B4-BE49-F238E27FC236}">
                <a16:creationId xmlns:a16="http://schemas.microsoft.com/office/drawing/2014/main" id="{FDA55665-7983-4DD4-A87F-FA076AAC2412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alssalāmu `alayka yabna amīri almu'minīna</a:t>
            </a:r>
          </a:p>
        </p:txBody>
      </p:sp>
      <p:sp>
        <p:nvSpPr>
          <p:cNvPr id="53253" name="Text Box 13">
            <a:extLst>
              <a:ext uri="{FF2B5EF4-FFF2-40B4-BE49-F238E27FC236}">
                <a16:creationId xmlns:a16="http://schemas.microsoft.com/office/drawing/2014/main" id="{DC96DEB9-78F4-492D-B05C-44B3290A8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Hazrat Abbás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5C4A6C-AB28-48D2-82A3-00D6596B5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68375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السّلامُ عَلَيْكَ أَيّهَا الْعَبْدُ الصَّالِحُ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B665F7F-73B1-4E7A-8BEC-AC491BBFF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Friede sei mit dir, o rechtschaffener Diener (Allahs),</a:t>
            </a:r>
          </a:p>
        </p:txBody>
      </p:sp>
      <p:sp>
        <p:nvSpPr>
          <p:cNvPr id="54276" name="Subtitle 4">
            <a:extLst>
              <a:ext uri="{FF2B5EF4-FFF2-40B4-BE49-F238E27FC236}">
                <a16:creationId xmlns:a16="http://schemas.microsoft.com/office/drawing/2014/main" id="{3004D8D9-2ACC-42D2-9F6D-24C2EFE2DB15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alssalāmu `alayka ayyuhā al`abdu alṣṣāliḥu</a:t>
            </a:r>
          </a:p>
        </p:txBody>
      </p:sp>
      <p:sp>
        <p:nvSpPr>
          <p:cNvPr id="54277" name="Text Box 13">
            <a:extLst>
              <a:ext uri="{FF2B5EF4-FFF2-40B4-BE49-F238E27FC236}">
                <a16:creationId xmlns:a16="http://schemas.microsoft.com/office/drawing/2014/main" id="{BE4DF15E-829C-4D6D-A7BA-8EB06E21C3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Hazrat Abbás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5CF81D-B09D-4931-939F-2C63F49F7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68375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الْمُطِيعُ لِلّهِ وَلِرَسُولِهِ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9E6F84-A28A-4FA7-880C-0E1D76792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Der </a:t>
            </a:r>
            <a:r>
              <a:rPr lang="en-US" sz="3600" b="1" kern="1200" dirty="0" err="1">
                <a:ea typeface="MS Mincho" pitchFamily="49" charset="-128"/>
              </a:rPr>
              <a:t>Gehorsame</a:t>
            </a:r>
            <a:r>
              <a:rPr lang="en-US" sz="3600" b="1" kern="1200" dirty="0">
                <a:ea typeface="MS Mincho" pitchFamily="49" charset="-128"/>
              </a:rPr>
              <a:t> gegenüber Allah und Seinem Gesandten.</a:t>
            </a:r>
          </a:p>
        </p:txBody>
      </p:sp>
      <p:sp>
        <p:nvSpPr>
          <p:cNvPr id="55300" name="Subtitle 4">
            <a:extLst>
              <a:ext uri="{FF2B5EF4-FFF2-40B4-BE49-F238E27FC236}">
                <a16:creationId xmlns:a16="http://schemas.microsoft.com/office/drawing/2014/main" id="{AF549D82-D87B-4427-BA7B-239B85E54BB6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almuṭī`u lillāhi wa lirasūlihi</a:t>
            </a:r>
          </a:p>
        </p:txBody>
      </p:sp>
      <p:sp>
        <p:nvSpPr>
          <p:cNvPr id="55301" name="Text Box 13">
            <a:extLst>
              <a:ext uri="{FF2B5EF4-FFF2-40B4-BE49-F238E27FC236}">
                <a16:creationId xmlns:a16="http://schemas.microsoft.com/office/drawing/2014/main" id="{6310C5DF-86AA-47F8-BA39-FADF35530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Hazrat Abbás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737E2-EB1F-493E-84EA-F5AD00076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68375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أَشْهَدُ أَنّكَ قَدْ جَاهَدْتَ وَنَصَحْتَ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AB44B3-A682-40B6-8CAA-0D1BC7BD6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Ich bezeuge, dass du dich bemüht hast (auf Allahs Weg) und aufrichtig gehandelt hast</a:t>
            </a:r>
          </a:p>
        </p:txBody>
      </p:sp>
      <p:sp>
        <p:nvSpPr>
          <p:cNvPr id="56324" name="Subtitle 4">
            <a:extLst>
              <a:ext uri="{FF2B5EF4-FFF2-40B4-BE49-F238E27FC236}">
                <a16:creationId xmlns:a16="http://schemas.microsoft.com/office/drawing/2014/main" id="{D8F42104-0904-4E3E-9F5D-A7F70D18BB5D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ash-hadu annaka qad jāhadta wa naṣaḥta</a:t>
            </a:r>
          </a:p>
        </p:txBody>
      </p:sp>
      <p:sp>
        <p:nvSpPr>
          <p:cNvPr id="56325" name="Text Box 13">
            <a:extLst>
              <a:ext uri="{FF2B5EF4-FFF2-40B4-BE49-F238E27FC236}">
                <a16:creationId xmlns:a16="http://schemas.microsoft.com/office/drawing/2014/main" id="{610BCE0F-8F39-4273-9517-F79FEAF5F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Hazrat Abbás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DF5E44-EFCA-4AAD-85C9-5A9BD3074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68375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وَصَبَرْتَ حَتَّى أَتَاكَ الْيَقِينُ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3E45268-21BD-4116-90D8-86FA633AD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</a:t>
            </a:r>
            <a:r>
              <a:rPr lang="en-US" sz="3600" b="1" kern="1200" dirty="0" err="1">
                <a:ea typeface="MS Mincho" pitchFamily="49" charset="-128"/>
              </a:rPr>
              <a:t>geduldig</a:t>
            </a:r>
            <a:r>
              <a:rPr lang="en-US" sz="3600" b="1" kern="1200" dirty="0">
                <a:ea typeface="MS Mincho" pitchFamily="49" charset="-128"/>
              </a:rPr>
              <a:t> [</a:t>
            </a:r>
            <a:r>
              <a:rPr lang="en-US" sz="3600" b="1" kern="1200" dirty="0" err="1">
                <a:ea typeface="MS Mincho" pitchFamily="49" charset="-128"/>
              </a:rPr>
              <a:t>duldet</a:t>
            </a:r>
            <a:r>
              <a:rPr lang="en-US" sz="3600" b="1" kern="1200" dirty="0">
                <a:ea typeface="MS Mincho" pitchFamily="49" charset="-128"/>
              </a:rPr>
              <a:t> (</a:t>
            </a:r>
            <a:r>
              <a:rPr lang="en-US" sz="3600" b="1" kern="1200" dirty="0" err="1">
                <a:ea typeface="MS Mincho" pitchFamily="49" charset="-128"/>
              </a:rPr>
              <a:t>Schaden</a:t>
            </a:r>
            <a:r>
              <a:rPr lang="en-US" sz="3600" b="1" kern="1200" dirty="0">
                <a:ea typeface="MS Mincho" pitchFamily="49" charset="-128"/>
              </a:rPr>
              <a:t>)], </a:t>
            </a:r>
            <a:r>
              <a:rPr lang="de-DE" sz="3600" b="1" kern="1200" dirty="0">
                <a:ea typeface="MS Mincho" pitchFamily="49" charset="-128"/>
              </a:rPr>
              <a:t>bis das sichere Los dich ereilte.</a:t>
            </a:r>
            <a:r>
              <a:rPr lang="en-US" sz="3600" b="1" kern="1200" dirty="0">
                <a:ea typeface="MS Mincho" pitchFamily="49" charset="-128"/>
              </a:rPr>
              <a:t>[bis der Tod über euch </a:t>
            </a:r>
            <a:r>
              <a:rPr lang="en-US" sz="3600" b="1" kern="1200" dirty="0" err="1">
                <a:ea typeface="MS Mincho" pitchFamily="49" charset="-128"/>
              </a:rPr>
              <a:t>kommt</a:t>
            </a:r>
            <a:r>
              <a:rPr lang="en-US" sz="3600" b="1" kern="1200" dirty="0">
                <a:ea typeface="MS Mincho" pitchFamily="49" charset="-128"/>
              </a:rPr>
              <a:t>.]</a:t>
            </a:r>
          </a:p>
        </p:txBody>
      </p:sp>
      <p:sp>
        <p:nvSpPr>
          <p:cNvPr id="57348" name="Subtitle 4">
            <a:extLst>
              <a:ext uri="{FF2B5EF4-FFF2-40B4-BE49-F238E27FC236}">
                <a16:creationId xmlns:a16="http://schemas.microsoft.com/office/drawing/2014/main" id="{C648BCF5-C2A3-42C3-891D-3A69A3F4A2E4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ṣabarta ḥattā atāka aliyaqīnu</a:t>
            </a:r>
          </a:p>
        </p:txBody>
      </p:sp>
      <p:sp>
        <p:nvSpPr>
          <p:cNvPr id="57349" name="Text Box 13">
            <a:extLst>
              <a:ext uri="{FF2B5EF4-FFF2-40B4-BE49-F238E27FC236}">
                <a16:creationId xmlns:a16="http://schemas.microsoft.com/office/drawing/2014/main" id="{D7CF67D3-510B-4E56-A257-9337741BE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Hazrat Abbás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0AD591-46C8-47C3-85D7-0E989B1AA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68375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لَعَنَ اللّهُ الظَّالِمِينَ لَكُمْ مِنَ الأوَّلِينَ وَالآخِرِينَ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1F59C19-042F-4149-838B-23C4E4677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Möge Allah den Segen von denen nehmen, die </a:t>
            </a:r>
            <a:r>
              <a:rPr lang="en-US" sz="3600" b="1" kern="1200" dirty="0" err="1">
                <a:ea typeface="MS Mincho" pitchFamily="49" charset="-128"/>
              </a:rPr>
              <a:t>dir</a:t>
            </a:r>
            <a:r>
              <a:rPr lang="en-US" sz="3600" b="1" kern="1200" dirty="0">
                <a:ea typeface="MS Mincho" pitchFamily="49" charset="-128"/>
              </a:rPr>
              <a:t> in der Vergangenheit und in der heutigen Generation Unrecht getan haben.</a:t>
            </a:r>
          </a:p>
        </p:txBody>
      </p:sp>
      <p:sp>
        <p:nvSpPr>
          <p:cNvPr id="58372" name="Subtitle 4">
            <a:extLst>
              <a:ext uri="{FF2B5EF4-FFF2-40B4-BE49-F238E27FC236}">
                <a16:creationId xmlns:a16="http://schemas.microsoft.com/office/drawing/2014/main" id="{86A98D63-5934-46DF-AC79-0924BF906795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la`ana allāhu alẓẓālimīna lakum mina al-awwalīna wal-ākhirīna</a:t>
            </a:r>
          </a:p>
        </p:txBody>
      </p:sp>
      <p:sp>
        <p:nvSpPr>
          <p:cNvPr id="58373" name="Text Box 13">
            <a:extLst>
              <a:ext uri="{FF2B5EF4-FFF2-40B4-BE49-F238E27FC236}">
                <a16:creationId xmlns:a16="http://schemas.microsoft.com/office/drawing/2014/main" id="{852D39B6-1F06-491F-90F7-51911C8DE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Hazrat Abbás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63C680-D9AE-4B5F-8EAE-0B89D2BAC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968375"/>
            <a:ext cx="86868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وَأَلْحَقَهُمْ بِدَرْكِ الْجَحِيمِ.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41F232-806B-4EC4-82E7-F1112B248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743200"/>
            <a:ext cx="86868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möge Er sie in die unterste Schicht der glühenden Hölle schicken.</a:t>
            </a:r>
          </a:p>
        </p:txBody>
      </p:sp>
      <p:sp>
        <p:nvSpPr>
          <p:cNvPr id="59396" name="Subtitle 4">
            <a:extLst>
              <a:ext uri="{FF2B5EF4-FFF2-40B4-BE49-F238E27FC236}">
                <a16:creationId xmlns:a16="http://schemas.microsoft.com/office/drawing/2014/main" id="{321EF8FB-ED3F-4834-AB61-D25C972F6728}"/>
              </a:ext>
            </a:extLst>
          </p:cNvPr>
          <p:cNvSpPr txBox="1">
            <a:spLocks/>
          </p:cNvSpPr>
          <p:nvPr/>
        </p:nvSpPr>
        <p:spPr bwMode="auto">
          <a:xfrm>
            <a:off x="228600" y="5029200"/>
            <a:ext cx="8686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wa alḥaqahum bidarki aljaḥīmi</a:t>
            </a:r>
          </a:p>
        </p:txBody>
      </p:sp>
      <p:sp>
        <p:nvSpPr>
          <p:cNvPr id="59397" name="Text Box 13">
            <a:extLst>
              <a:ext uri="{FF2B5EF4-FFF2-40B4-BE49-F238E27FC236}">
                <a16:creationId xmlns:a16="http://schemas.microsoft.com/office/drawing/2014/main" id="{ABFF299D-DCDA-4E2E-848F-0743359B2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Hazrat Abbás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F03485-C33F-4492-B48E-30657B530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14400"/>
            <a:ext cx="9144000" cy="1470025"/>
          </a:xfrm>
        </p:spPr>
        <p:txBody>
          <a:bodyPr/>
          <a:lstStyle/>
          <a:p>
            <a:pPr rtl="1" eaLnBrk="1" hangingPunct="1">
              <a:lnSpc>
                <a:spcPts val="8500"/>
              </a:lnSpc>
              <a:defRPr/>
            </a:pPr>
            <a:r>
              <a:rPr lang="ar-SA" sz="8800" kern="1200" dirty="0">
                <a:latin typeface="Arabic Typesetting" panose="03020402040406030203" pitchFamily="66" charset="-78"/>
                <a:ea typeface="+mn-ea"/>
                <a:cs typeface="Arabic Typesetting" panose="03020402040406030203" pitchFamily="66" charset="-78"/>
              </a:rPr>
              <a:t>اَللَّهُمَّ صَلِّ عَلَى مُحَمَّدٍ وَ آلِ مُحَمَّد</a:t>
            </a:r>
            <a:endParaRPr lang="en-US" sz="8800" kern="1200" dirty="0">
              <a:latin typeface="Arabic Typesetting" panose="03020402040406030203" pitchFamily="66" charset="-78"/>
              <a:ea typeface="+mn-ea"/>
              <a:cs typeface="Arabic Typesetting" panose="03020402040406030203" pitchFamily="66" charset="-78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0E467B-25ED-4357-BF59-980CADC50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1752600"/>
          </a:xfrm>
        </p:spPr>
        <p:txBody>
          <a:bodyPr/>
          <a:lstStyle/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O' </a:t>
            </a:r>
            <a:r>
              <a:rPr lang="en-US" sz="3600" b="1" kern="1200" dirty="0" err="1">
                <a:ea typeface="MS Mincho" pitchFamily="49" charset="-128"/>
              </a:rPr>
              <a:t>Allāh</a:t>
            </a:r>
            <a:r>
              <a:rPr lang="en-US" sz="3600" b="1" kern="1200" dirty="0">
                <a:ea typeface="MS Mincho" pitchFamily="49" charset="-128"/>
              </a:rPr>
              <a:t>, </a:t>
            </a:r>
            <a:r>
              <a:rPr lang="en-US" sz="3600" b="1" kern="1200" dirty="0" err="1">
                <a:ea typeface="MS Mincho" pitchFamily="49" charset="-128"/>
              </a:rPr>
              <a:t>segne</a:t>
            </a:r>
            <a:r>
              <a:rPr lang="en-US" sz="3600" b="1" kern="1200" dirty="0">
                <a:ea typeface="MS Mincho" pitchFamily="49" charset="-128"/>
              </a:rPr>
              <a:t> Muhammad</a:t>
            </a:r>
          </a:p>
          <a:p>
            <a:pPr marL="342900" indent="-342900" eaLnBrk="1" hangingPunct="1">
              <a:defRPr/>
            </a:pPr>
            <a:r>
              <a:rPr lang="en-US" sz="3600" b="1" kern="1200" dirty="0">
                <a:ea typeface="MS Mincho" pitchFamily="49" charset="-128"/>
              </a:rPr>
              <a:t>und die </a:t>
            </a:r>
            <a:r>
              <a:rPr lang="en-US" sz="3600" b="1" kern="1200" dirty="0" err="1">
                <a:ea typeface="MS Mincho" pitchFamily="49" charset="-128"/>
              </a:rPr>
              <a:t>Familie</a:t>
            </a:r>
            <a:r>
              <a:rPr lang="en-US" sz="3600" b="1" kern="1200" dirty="0">
                <a:ea typeface="MS Mincho" pitchFamily="49" charset="-128"/>
              </a:rPr>
              <a:t> </a:t>
            </a:r>
            <a:r>
              <a:rPr lang="en-US" sz="3600" b="1" kern="1200" dirty="0" err="1">
                <a:ea typeface="MS Mincho" pitchFamily="49" charset="-128"/>
              </a:rPr>
              <a:t>Muhammads</a:t>
            </a:r>
            <a:r>
              <a:rPr lang="en-US" sz="3600" b="1" kern="1200" dirty="0">
                <a:ea typeface="MS Mincho" pitchFamily="49" charset="-128"/>
              </a:rPr>
              <a:t>.</a:t>
            </a:r>
          </a:p>
        </p:txBody>
      </p:sp>
      <p:sp>
        <p:nvSpPr>
          <p:cNvPr id="60420" name="Subtitle 4">
            <a:extLst>
              <a:ext uri="{FF2B5EF4-FFF2-40B4-BE49-F238E27FC236}">
                <a16:creationId xmlns:a16="http://schemas.microsoft.com/office/drawing/2014/main" id="{794E3D7E-E29C-4053-9183-119A466249FA}"/>
              </a:ext>
            </a:extLst>
          </p:cNvPr>
          <p:cNvSpPr txBox="1">
            <a:spLocks/>
          </p:cNvSpPr>
          <p:nvPr/>
        </p:nvSpPr>
        <p:spPr bwMode="auto">
          <a:xfrm>
            <a:off x="0" y="5029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fi-FI" altLang="en-US" b="1" i="1">
                <a:ea typeface="MS Mincho" panose="02020609040205080304" pitchFamily="49" charset="-128"/>
              </a:rPr>
              <a:t>allāhumma ṣalli `alā muḥammadin wa āli muḥammad</a:t>
            </a:r>
          </a:p>
        </p:txBody>
      </p:sp>
      <p:sp>
        <p:nvSpPr>
          <p:cNvPr id="60421" name="Text Box 13">
            <a:extLst>
              <a:ext uri="{FF2B5EF4-FFF2-40B4-BE49-F238E27FC236}">
                <a16:creationId xmlns:a16="http://schemas.microsoft.com/office/drawing/2014/main" id="{FFA84383-988D-4FB9-B4F8-11637E170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33655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rgbClr val="0018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FFFF99"/>
                </a:solidFill>
                <a:latin typeface="Trebuchet MS" panose="020B0603020202020204" pitchFamily="34" charset="0"/>
              </a:rPr>
              <a:t>Ziyārah von Imam Husayn (A) für die Nacht des Qadr</a:t>
            </a:r>
            <a:endParaRPr lang="ar-SA" altLang="en-US" sz="1600" b="1">
              <a:solidFill>
                <a:srgbClr val="FFFF99"/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4">
      <a:dk1>
        <a:srgbClr val="FFFFFF"/>
      </a:dk1>
      <a:lt1>
        <a:srgbClr val="FFFFFF"/>
      </a:lt1>
      <a:dk2>
        <a:srgbClr val="FFFF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FFFFFF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DADADA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FFFFFF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DADADA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2158</Words>
  <Application>Microsoft Office PowerPoint</Application>
  <PresentationFormat>Bildschirmpräsentation (4:3)</PresentationFormat>
  <Paragraphs>210</Paragraphs>
  <Slides>53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53</vt:i4>
      </vt:variant>
    </vt:vector>
  </HeadingPairs>
  <TitlesOfParts>
    <vt:vector size="59" baseType="lpstr">
      <vt:lpstr>Arabic Typesetting</vt:lpstr>
      <vt:lpstr>Arial</vt:lpstr>
      <vt:lpstr>Calibri</vt:lpstr>
      <vt:lpstr>Century Gothic</vt:lpstr>
      <vt:lpstr>Trebuchet MS</vt:lpstr>
      <vt:lpstr>Default Design</vt:lpstr>
      <vt:lpstr>PowerPoint-Präsentation</vt:lpstr>
      <vt:lpstr>اَللَّهُمَّ صَلِّ عَلَى مُحَمَّدٍ وَ آلِ مُحَمَّد</vt:lpstr>
      <vt:lpstr>بِسْمِ ٱللَّـهِ ٱلرَّحْمَـٰنِ ٱلرَّحِيمِ</vt:lpstr>
      <vt:lpstr>السّلامُ عَلَيْكَ يَا بْنَ رَسُولِ اللّهِ</vt:lpstr>
      <vt:lpstr>السّلامُ عَلَيْكَ يَا بْنَ أَمِيرِالْمُؤْمِنِينَ</vt:lpstr>
      <vt:lpstr>السّلامُ عَلَيْكَ يَا بْنَ الصّدّيقَةِ الطَّاهِرَةِ</vt:lpstr>
      <vt:lpstr>فَاطِمَةَ سَيّدَةِ نِسَاءِ الْعَالَمِينَ</vt:lpstr>
      <vt:lpstr>السّلامُ عَلَيْكَ يَا مَوْلايَ يَا أَبَا عَبْدِاللّهِ</vt:lpstr>
      <vt:lpstr>وَرَحْمَةُ اللّهِ وَبَرَكَاتُهُ</vt:lpstr>
      <vt:lpstr>أَشْهَدُ أَنّكَ قَدْ أَقَمْتَ الصّلاةَ</vt:lpstr>
      <vt:lpstr>وَآتَيْتَ الزّكَاةَ</vt:lpstr>
      <vt:lpstr>وَأَمَرْتَ بِالْمَعْرُوفِ</vt:lpstr>
      <vt:lpstr>وَنَهَيْتَ عَنِ الْمُنْكَرِ</vt:lpstr>
      <vt:lpstr>وَتَلَوْتَ الْكِتَابَ حَقّ تِلاوَتِهِ</vt:lpstr>
      <vt:lpstr>وَجَاهَدْتَ فِي اللّهِ حَقّ جِهَادِهِ</vt:lpstr>
      <vt:lpstr>وَصَبَرْتَ عَلَى الأذَى فَي جَنْبِهِ مُحْتَسِباً حَتَّى أَتَاكَ الْيَقِينُ</vt:lpstr>
      <vt:lpstr>أَشْهَدُ أَنّ الّذِينَ خَالَفُوكَ وَحَارَبُوكَ</vt:lpstr>
      <vt:lpstr>وَالّذِينَ خَذَلُوكَ وَالّذِينَ قَتَلُوكَ</vt:lpstr>
      <vt:lpstr>مَلْعُونُونَ عَلَى لِسَانِ النّبِيّ الأُمِيِّ</vt:lpstr>
      <vt:lpstr>وَقَدْ خَابَ مَنِ افْتَرَى</vt:lpstr>
      <vt:lpstr>لَعَنَ اللّهُ الظَّالِمِينَ لَكُمْ مِنَ الأوَّلِينَ وَالآخِرِينَ</vt:lpstr>
      <vt:lpstr>وَضَاعَفَ عَلَيْهِمُ الْعَذَابَ الألِيمَ.</vt:lpstr>
      <vt:lpstr>تَوَجَّهْتُ نَحْوَ مَشْهَدِك يَا مَوْلايَ يَا بْنَ رَسُولِ اللّهِ</vt:lpstr>
      <vt:lpstr>زَائِراً عَارِفاً بِحَقّكَ</vt:lpstr>
      <vt:lpstr>مُوَالِياً لأَوْلِيَائِكَ</vt:lpstr>
      <vt:lpstr>مُعَادِياً لأَعْدَائِكَ</vt:lpstr>
      <vt:lpstr>مُسْتَبْصِراً بِالْهُدَى الّذِي أَنْتَ عَلَيْهِ</vt:lpstr>
      <vt:lpstr>عَارِفاً بِضَلالَةِ مَنْ خَالَفَكَ</vt:lpstr>
      <vt:lpstr>فَاشْفَعْ لِي عِنْدَ رَبّكَ.</vt:lpstr>
      <vt:lpstr>PowerPoint-Präsentation</vt:lpstr>
      <vt:lpstr>السّلامُ عَلَيْكَ يَا مَوْلايَ وَابْنَ مَوْلايَ</vt:lpstr>
      <vt:lpstr>وَرَحْمَةُ اللّهِ وَبَرَكَاتُهُ</vt:lpstr>
      <vt:lpstr>لَعَنَ اللّهُ مَنْ ظَلَمَكَ</vt:lpstr>
      <vt:lpstr>وَلَعَنَ اللّهُ مَنْ قَتَلَكَ</vt:lpstr>
      <vt:lpstr>وَضَاعَفَ عَلَيْهِمُ الْعَذَابَ الألِيمَ.</vt:lpstr>
      <vt:lpstr>PowerPoint-Präsentation</vt:lpstr>
      <vt:lpstr>السّلامُ عَلَيْكُمْ أَيّهَا الصّدِيقُونَ</vt:lpstr>
      <vt:lpstr>السّلامُ عَلَيْكُمْ أَيّهَا الشّهَدَاءُ الصَّابِرُونَ</vt:lpstr>
      <vt:lpstr>أَشْهَدُ أَنّكُمْ جَاهَدْتُمْ فِي سَبِيلِ اللّهِ</vt:lpstr>
      <vt:lpstr>وَصَبَرْتُمْ عَلَى الأذَى فِي جَنْبِ اللّهِ</vt:lpstr>
      <vt:lpstr>وَنَصَحْتُمْ لِلّهِ وَلِرَسُولِهِ حَتَّى أَتَاكُمُ الْيَقِينُ</vt:lpstr>
      <vt:lpstr>أَشْهَدُ أَنّكُمْ أَحْيَاءٌ عِنْدَ رَبّكُمْ تُرْزَقُونَ</vt:lpstr>
      <vt:lpstr>فَجَزَاكُمُ اللّهُ عَنِ الإسْلامِ وَأَهْلِهِ أَفْضَلَ جَزَاءِ الْمُحْسِنِينَ</vt:lpstr>
      <vt:lpstr>وَجَمَعَ بَيْنَنَا وَبَيْنَكُمْ فِي مَحَلّ النّعِيمِ.</vt:lpstr>
      <vt:lpstr>PowerPoint-Präsentation</vt:lpstr>
      <vt:lpstr>السّلامُ عَلَيْكَ يَا بْنَ أَمِيرِ الْمُؤْمِنِينَ</vt:lpstr>
      <vt:lpstr>السّلامُ عَلَيْكَ أَيّهَا الْعَبْدُ الصَّالِحُ</vt:lpstr>
      <vt:lpstr>الْمُطِيعُ لِلّهِ وَلِرَسُولِهِ</vt:lpstr>
      <vt:lpstr>أَشْهَدُ أَنّكَ قَدْ جَاهَدْتَ وَنَصَحْتَ</vt:lpstr>
      <vt:lpstr>وَصَبَرْتَ حَتَّى أَتَاكَ الْيَقِينُ</vt:lpstr>
      <vt:lpstr>لَعَنَ اللّهُ الظَّالِمِينَ لَكُمْ مِنَ الأوَّلِينَ وَالآخِرِينَ</vt:lpstr>
      <vt:lpstr>وَأَلْحَقَهُمْ بِدَرْكِ الْجَحِيمِ.</vt:lpstr>
      <vt:lpstr>اَللَّهُمَّ صَلِّ عَلَى مُحَمَّدٍ وَ آلِ مُحَمَّد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Rehan Ali Lotlikar</dc:creator>
  <cp:keywords>, docId:4645168047EA739A4C4F8C1E220E250B</cp:keywords>
  <cp:lastModifiedBy>مروان aka Abu Zulfiqar</cp:lastModifiedBy>
  <cp:revision>326</cp:revision>
  <cp:lastPrinted>1601-01-01T00:00:00Z</cp:lastPrinted>
  <dcterms:created xsi:type="dcterms:W3CDTF">1601-01-01T00:00:00Z</dcterms:created>
  <dcterms:modified xsi:type="dcterms:W3CDTF">2022-04-17T14:21:22Z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